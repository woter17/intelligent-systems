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ea0723f96b494c" /><Relationship Type="http://schemas.openxmlformats.org/officeDocument/2006/relationships/extended-properties" Target="/docProps/app.xml" Id="Rb930e2800b3b426a" /><Relationship Type="http://schemas.openxmlformats.org/officeDocument/2006/relationships/officeDocument" Target="/ppt/presentation.xml" Id="Rc935d1515d2340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7a0a2abc354896"/>
  </p:sldMasterIdLst>
  <p:notesMasterIdLst>
    <p:notesMasterId xmlns:r="http://schemas.openxmlformats.org/officeDocument/2006/relationships" r:id="Rfed7258e209c44b0"/>
  </p:notesMasterIdLst>
  <p:sldIdLst>
    <p:sldId xmlns:r="http://schemas.openxmlformats.org/officeDocument/2006/relationships" id="256" r:id="R18d2cb3c84c64287"/>
    <p:sldId xmlns:r="http://schemas.openxmlformats.org/officeDocument/2006/relationships" id="257" r:id="R59c5bf540a7e4915"/>
    <p:sldId xmlns:r="http://schemas.openxmlformats.org/officeDocument/2006/relationships" id="258" r:id="R3a7dd4281dc34030"/>
    <p:sldId xmlns:r="http://schemas.openxmlformats.org/officeDocument/2006/relationships" id="259" r:id="R2352e5f2e8ff499d"/>
    <p:sldId xmlns:r="http://schemas.openxmlformats.org/officeDocument/2006/relationships" id="260" r:id="R2572b95705594360"/>
    <p:sldId xmlns:r="http://schemas.openxmlformats.org/officeDocument/2006/relationships" id="261" r:id="Re18f5d7169a74b3f"/>
    <p:sldId xmlns:r="http://schemas.openxmlformats.org/officeDocument/2006/relationships" id="262" r:id="R4c2527ecd0934c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3320f77f49414f" /><Relationship Type="http://schemas.openxmlformats.org/officeDocument/2006/relationships/slideMaster" Target="/ppt/slideMasters/slideMaster1.xml" Id="R227a0a2abc354896" /><Relationship Type="http://schemas.openxmlformats.org/officeDocument/2006/relationships/notesMaster" Target="/ppt/notesMasters/notesMaster1.xml" Id="Rfed7258e209c44b0" /><Relationship Type="http://schemas.openxmlformats.org/officeDocument/2006/relationships/presProps" Target="/ppt/presProps.xml" Id="R9ecace0baba24f17" /><Relationship Type="http://schemas.openxmlformats.org/officeDocument/2006/relationships/tableStyles" Target="/ppt/tableStyles.xml" Id="R3d512229bcc14292" /><Relationship Type="http://schemas.openxmlformats.org/officeDocument/2006/relationships/slide" Target="/ppt/slides/slide1.xml" Id="R18d2cb3c84c64287" /><Relationship Type="http://schemas.openxmlformats.org/officeDocument/2006/relationships/slide" Target="/ppt/slides/slide2.xml" Id="R59c5bf540a7e4915" /><Relationship Type="http://schemas.openxmlformats.org/officeDocument/2006/relationships/slide" Target="/ppt/slides/slide3.xml" Id="R3a7dd4281dc34030" /><Relationship Type="http://schemas.openxmlformats.org/officeDocument/2006/relationships/slide" Target="/ppt/slides/slide4.xml" Id="R2352e5f2e8ff499d" /><Relationship Type="http://schemas.openxmlformats.org/officeDocument/2006/relationships/slide" Target="/ppt/slides/slide5.xml" Id="R2572b95705594360" /><Relationship Type="http://schemas.openxmlformats.org/officeDocument/2006/relationships/slide" Target="/ppt/slides/slide6.xml" Id="Re18f5d7169a74b3f" /><Relationship Type="http://schemas.openxmlformats.org/officeDocument/2006/relationships/slide" Target="/ppt/slides/slide7.xml" Id="R4c2527ecd0934c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9b4547ea6c4c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df51961b254292" /><Relationship Type="http://schemas.openxmlformats.org/officeDocument/2006/relationships/notesMaster" Target="/ppt/notesMasters/notesMaster1.xml" Id="Rea74e1bc4c2b4b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1a42fbbc7c420e" /><Relationship Type="http://schemas.openxmlformats.org/officeDocument/2006/relationships/notesMaster" Target="/ppt/notesMasters/notesMaster1.xml" Id="R333e3271bfb646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0320c02f684836" /><Relationship Type="http://schemas.openxmlformats.org/officeDocument/2006/relationships/notesMaster" Target="/ppt/notesMasters/notesMaster1.xml" Id="Rbd28157d241145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b65938d5d549d7" /><Relationship Type="http://schemas.openxmlformats.org/officeDocument/2006/relationships/notesMaster" Target="/ppt/notesMasters/notesMaster1.xml" Id="R166c67dfcb0e42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7aeb1e9fd24c9b" /><Relationship Type="http://schemas.openxmlformats.org/officeDocument/2006/relationships/notesMaster" Target="/ppt/notesMasters/notesMaster1.xml" Id="R89bd32da316b45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90f01d4c294faa" /><Relationship Type="http://schemas.openxmlformats.org/officeDocument/2006/relationships/notesMaster" Target="/ppt/notesMasters/notesMaster1.xml" Id="Ra3dc3b8d49c346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5770a553754c41" /><Relationship Type="http://schemas.openxmlformats.org/officeDocument/2006/relationships/notesMaster" Target="/ppt/notesMasters/notesMaster1.xml" Id="R039ecfbb021e47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Мой проект называется учебный помощник для определения вида ириса по размерам цветка. Я выбрал эту тему из списка практики 7, потому что задача небольшая, данные понятные, а работу модели можно объяснить через четыре измерения. Пользователь вводит длину и ширину чашелистика и лепестка в сантиметрах. Программа выбирает один из трёх видов: Setosa, Versicolor или Virginica. Мой проект включает подготовку данных, сравнение двух подходов, сохранённую модель, веб-интерфейс и тесты. На защите я покажу не только правильный ответ, но и пограничный пример, на котором модель ошибается. Это помогает честно оценить возможности учебной системы.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Целевая аудитория — учащиеся, которые знакомятся с классификацией растений и машинным обучением. Помощник позволяет проверить, как четыре числовых признака связаны с видом цветка. Цель работы — построить и проверить классификатор, а затем сделать удобный ввод измерений. Образовательный смысл проекта состоит в том, что можно наблюдать весь путь от данных до ответа модели и обсуждать ошибки. Пользователь должен измерить цветок самостоятельно. Программа не анализирует фотографию. Она знает только три вида из обучающего набора. Поэтому я представляю её как учебный помощник для заданной задачи, а не как универсальный определитель любых растений.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Я использую Iris Dataset. В нём 150 примеров, по 50 для каждого из трёх видов. У каждого цветка четыре числовых признака, все в сантиметрах. Пропусков в использованной копии нет. В проекте данные сохранены локально в iris.csv, поэтому после установки библиотек скачивание при запуске не требуется. Источник набора — UCI, а CSV подготовлен из встроенной копии scikit-learn. Названия видов перевожу в числа 0, 1 и 2. Из 150 цветков 120 оставляю для обучения и кросс-валидации, а 30 откладываю для финального теста. Stratify сохраняет доли видов, random_state делает разделение воспроизводимым. Источники: https://archive.ics.uci.edu/dataset/53/iris и https://scikit-learn.org/stable/modules/generated/sklearn.datasets.load_iris.html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Первый подход я реализовал самостоятельно: использую только длину лепестка и сравниваю её со средней длиной каждого вида на обучающих данных. Ближайшее среднее определяет ответ. Второй подход — логистическая регрессия на всех четырёх измерениях после StandardScaler. Это классификатор, несмотря на слово регрессия в названии. Я сравниваю подходы на пяти стратифицированных блоках только обучающей части. Основная метрика — macro-F1. Она одинаково учитывает каждый вид. Логистическая регрессия получила средний macro-F1 около 0,958, а правило около 0,950. Разница небольшая. Правило имеет меньший разброс, поэтому я не утверждаю абсолютное превосходство регрессии. Выбор сделан по большему среднему F1, разброс используется при равенстве. Подготовка обучается внутри Pipeline. Источник по подготовке: https://scikit-learn.org/stable/common_pitfalls.html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 выбора подхода я обучил его на всех 120 тренировочных примерах и проверил на 30 отложенных цветках. Получилось 28 правильных ответов и две ошибки. Accuracy и macro-F1 составили около 0,933. В матрице ошибок строки означают реальные виды, столбцы — ответы модели. Все десять Setosa определены верно. Один Versicolor принят за Virginica и один Virginica за Versicolor. Для этих двух видов precision и recall равны 0,9. Ошибки соответствуют близким измерениям двух видов, но по одной матрице нельзя доказать универсальную причину всех будущих ошибок. Маленький тест также ограничивает точность оценки: одна ошибка меняет accuracy примерно на 3,3 процентного пункта. Я не обещаю такой же результат на любых новых цветках.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Интерфейс я сделал через Gradio. В нём четыре числовых поля, кнопка и текстовый ответ. Файл train.py подготавливает данные и сохраняет модель, predict.py загружает её и проверяет ввод, app.py связывает функцию с веб-формой. В сохранённом файле находится весь Pipeline вместе с масштабированием, поэтому при запуске интерфейса обучать модель заново не нужно. Отрицательные числа, пустые поля и некорректные значения дают понятное сообщение. Если размер выходит за диапазон обучающих примеров, интерфейс отмечает это ограничение. Тесты проверяют функцию, формат ответа и настоящий запуск веб-сервера с предсказанием через API. На снимке показан результат работающего приложения. После слайдов я покажу тот же путь вживую.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итоге я получил учебный проект, который выполняет все этапы от подготовки данных до интерфейса. Основной результат — macro-F1 0,933 на 30 тестовых примерах, а не обещание безошибочного определения вида. Для демонстрации я использую успешный пример 4.4, 3, 1.3, 0.2 с видом Setosa. Пограничный пример 6.1, 2.6, 5.6, 1.4 на самом деле Virginica, но модель отвечает Versicolor. Я специально показываю эту ошибку, чтобы объяснить ограничение. Дальнейшее развитие может включать больше независимых примеров и более подробный анализ ошибок. В рамках работы я не добавляю фотографии, новые виды или сложные модели, потому что это выходит за выбранную задачу. Теперь покажу запуск приложения и два примера.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e11d3729a047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f9cdabe19a417d" /><Relationship Type="http://schemas.openxmlformats.org/officeDocument/2006/relationships/slideLayout" Target="/ppt/slideLayouts/slideLayout1.xml" Id="Re31b2834cbb449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1b2834cbb449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c57c522fe45ed" /><Relationship Type="http://schemas.openxmlformats.org/officeDocument/2006/relationships/notesSlide" Target="/ppt/notesSlides/notesSlide1.xml" Id="R045dcc96bbb84f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56d65f767481d" /><Relationship Type="http://schemas.openxmlformats.org/officeDocument/2006/relationships/notesSlide" Target="/ppt/notesSlides/notesSlide2.xml" Id="Rf4e7af8b788746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c16e95fba40ad" /><Relationship Type="http://schemas.openxmlformats.org/officeDocument/2006/relationships/chart" Target="/ppt/slides/charts/chart1.xml" Id="Rb429f194c4f748df" /><Relationship Type="http://schemas.openxmlformats.org/officeDocument/2006/relationships/notesSlide" Target="/ppt/notesSlides/notesSlide3.xml" Id="Re67dc43e42de46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cdee8d1964634" /><Relationship Type="http://schemas.openxmlformats.org/officeDocument/2006/relationships/notesSlide" Target="/ppt/notesSlides/notesSlide4.xml" Id="Rd8d1925118db45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d274e90304756" /><Relationship Type="http://schemas.openxmlformats.org/officeDocument/2006/relationships/notesSlide" Target="/ppt/notesSlides/notesSlide5.xml" Id="R863b76ddc79340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6a5e7bb4e483b" /><Relationship Type="http://schemas.openxmlformats.org/officeDocument/2006/relationships/image" Target="/ppt/media/image.jpeg" Id="R4779631fa21c4763" /><Relationship Type="http://schemas.openxmlformats.org/officeDocument/2006/relationships/notesSlide" Target="/ppt/notesSlides/notesSlide6.xml" Id="R58501e7760f043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514db61074607" /><Relationship Type="http://schemas.openxmlformats.org/officeDocument/2006/relationships/notesSlide" Target="/ppt/notesSlides/notesSlide7.xml" Id="R4fc4618b37ee452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Цветки</c:v>
          </c:tx>
          <c:spPr>
            <a:solidFill xmlns:a="http://schemas.openxmlformats.org/drawingml/2006/main">
              <a:srgbClr val="315C7A"/>
            </a:solidFill>
          </c:spPr>
          <c:cat>
            <c:strRef>
              <c:f>'Chart Data'!$A$2:$A$4</c:f>
              <c:strCache>
                <c:ptCount val="3"/>
                <c:pt idx="0">
                  <c:v>Setosa</c:v>
                </c:pt>
                <c:pt idx="1">
                  <c:v>Versicolor</c:v>
                </c:pt>
                <c:pt idx="2">
                  <c:v>Virginica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50</c:v>
                </c:pt>
                <c:pt idx="1">
                  <c:v>50</c:v>
                </c:pt>
                <c:pt idx="2">
                  <c:v>50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E21BB-92EF-49B1-924D-6DF83BC0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Учебный помощник</a:t>
            </a:r>
          </a:p>
          <a:p xmlns:a="http://schemas.openxmlformats.org/drawingml/2006/main">
            <a:pPr>
              <a:defRPr sz="4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для определения вида ириса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99AE4-6297-4955-8400-61740D7E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По длине и ширине лепестка и чашелистика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A9BD0A-7336-4303-9BAA-D7D81C0D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Алексеев Николай</a:t>
            </a:r>
          </a:p>
          <a:p xmlns:a="http://schemas.openxmlformats.org/drawingml/2006/main">
            <a:pPr>
              <a:defRPr sz="21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ИТ 15-16</a:t>
            </a:r>
          </a:p>
        </p:txBody>
      </p:sp>
    </p:spTree>
    <p:extLst>
      <p:ext uri="{BB962C8B-B14F-4D97-AF65-F5344CB8AC3E}">
        <p14:creationId xmlns:p14="http://schemas.microsoft.com/office/powerpoint/2010/main" val="8210730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98F421-0295-41C3-92AC-DB2FB7ED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Цель и пользователь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004D54-5A43-48D3-B816-E4983296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Пользователь: учащийся, изучающий растения и классификацию.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95E11-0B52-4B61-B1E2-990FAB1D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Цель: определить один из трёх видов по четырём измерениям.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802DB-CB0A-47EB-AB17-CF56E921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Сценарий: измерить цветок, ввести размеры, прочитать ответ.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EC831-71A4-44A8-90EA-9CCA11E3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Область применения: учебная демонстрация на Iris Dataset.</a:t>
            </a:r>
          </a:p>
        </p:txBody>
      </p:sp>
    </p:spTree>
    <p:extLst>
      <p:ext uri="{BB962C8B-B14F-4D97-AF65-F5344CB8AC3E}">
        <p14:creationId xmlns:p14="http://schemas.microsoft.com/office/powerpoint/2010/main" val="8433848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46088-9053-433A-848C-724B0E0E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Данные Iris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20A66-2C15-45CD-90A6-481FA9A6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4905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150 цветков</a:t>
            </a:r>
          </a:p>
          <a:p xmlns:a="http://schemas.openxmlformats.org/drawingml/2006/main">
            <a:pPr>
              <a:defRPr sz="24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Три вида, по 50 примеров</a:t>
            </a:r>
          </a:p>
          <a:p xmlns:a="http://schemas.openxmlformats.org/drawingml/2006/main">
            <a:pPr>
              <a:defRPr sz="24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Пропусков нет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0F82A-0915-42FB-9C76-0756CE90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5238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Признаки в сантиметрах:</a:t>
            </a:r>
          </a:p>
          <a:p xmlns:a="http://schemas.openxmlformats.org/drawingml/2006/main">
            <a:pPr>
              <a:defRPr sz="21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длина и ширина чашелистика</a:t>
            </a:r>
          </a:p>
          <a:p xmlns:a="http://schemas.openxmlformats.org/drawingml/2006/main">
            <a:pPr>
              <a:defRPr sz="21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длина и ширина лепестка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436E2-888A-43B3-AA41-FB835385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120 примеров для train и CV</a:t>
            </a:r>
          </a:p>
          <a:p xmlns:a="http://schemas.openxmlformats.org/drawingml/2006/main">
            <a:pPr>
              <a:defRPr sz="20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30 примеров для итогового теста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0" y="1619250"/>
          <a:ext xmlns:a="http://schemas.openxmlformats.org/drawingml/2006/main" cx="5429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429f194c4f748d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B6521-2032-4D31-8BBF-CAB679CC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05500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Источник: UCI и встроенная копия scikit-learn</a:t>
            </a:r>
          </a:p>
        </p:txBody>
      </p:sp>
    </p:spTree>
    <p:extLst>
      <p:ext uri="{BB962C8B-B14F-4D97-AF65-F5344CB8AC3E}">
        <p14:creationId xmlns:p14="http://schemas.microsoft.com/office/powerpoint/2010/main" val="21125591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9ADF8-AC5F-474E-9135-C95DFFA9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Сравнение двух подходов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381750"/>
                <a:gridCol w="2381250"/>
                <a:gridCol w="220980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Подход</a:t>
                      </a:r>
                    </a:p>
                  </a:txBody>
                  <a:tcPr marL="91440" marR="91440" marT="45720" marB="45720">
                    <a:solidFill>
                      <a:srgbClr val="E7EE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Macro-F1 CV</a:t>
                      </a:r>
                    </a:p>
                  </a:txBody>
                  <a:tcPr marL="91440" marR="91440" marT="45720" marB="45720">
                    <a:solidFill>
                      <a:srgbClr val="E7EE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Разброс SD</a:t>
                      </a:r>
                    </a:p>
                  </a:txBody>
                  <a:tcPr marL="91440" marR="91440" marT="45720" marB="45720">
                    <a:solidFill>
                      <a:srgbClr val="E7EEF3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Правило по длине лепестка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0,950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0,017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Логистическая регрессия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0,958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0,027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D0F7B-1CC6-46DB-92BF-DDF89B99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Пять блоков CV только на train. Основная метрика — macro-F1.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379CA-505A-414C-868A-721C98A3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Выбран подход с большим средним F1. Разница небольшая.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ACB66-459B-4CE7-9101-3B3D537E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StandardScaler обучается внутри Pipeline для каждого блока.</a:t>
            </a:r>
          </a:p>
        </p:txBody>
      </p:sp>
    </p:spTree>
    <p:extLst>
      <p:ext uri="{BB962C8B-B14F-4D97-AF65-F5344CB8AC3E}">
        <p14:creationId xmlns:p14="http://schemas.microsoft.com/office/powerpoint/2010/main" val="380883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56B1E-C345-4C1A-9689-5A06AD9F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Результаты на отложенном тесте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CD5C1-3B35-48AD-BE98-841FEC61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048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315C7A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315C7A"/>
                </a:solidFill>
                <a:latin typeface="Arial"/>
                <a:ea typeface="Arial"/>
                <a:cs typeface="Arial"/>
              </a:rPr>
              <a:t>28 из 30</a:t>
            </a:r>
          </a:p>
          <a:p xmlns:a="http://schemas.openxmlformats.org/drawingml/2006/main">
            <a:pPr>
              <a:defRPr sz="3675" b="1">
                <a:solidFill>
                  <a:srgbClr val="315C7A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315C7A"/>
                </a:solidFill>
                <a:latin typeface="Arial"/>
                <a:ea typeface="Arial"/>
                <a:cs typeface="Arial"/>
              </a:rPr>
              <a:t>верных ответов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8644E-F30C-4909-A6B6-A8C92361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Accuracy: 0,933</a:t>
            </a:r>
          </a:p>
          <a:p xmlns:a="http://schemas.openxmlformats.org/drawingml/2006/main">
            <a:pPr>
              <a:defRPr sz="26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Macro-F1: 0,933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274D4-FBA5-419D-809E-D5B86935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Две ошибки между</a:t>
            </a:r>
          </a:p>
          <a:p xmlns:a="http://schemas.openxmlformats.org/drawingml/2006/main">
            <a:pPr>
              <a:defRPr sz="21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Versicolor и Virginica.</a:t>
            </a:r>
          </a:p>
          <a:p xmlns:a="http://schemas.openxmlformats.org/drawingml/2006/main">
            <a:pPr>
              <a:defRPr sz="21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Тест содержит только 30 цветков.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0" y="1857375"/>
          <a:ext xmlns:a="http://schemas.openxmlformats.org/drawingml/2006/main" cx="59055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1095375"/>
                <a:gridCol w="1571625"/>
                <a:gridCol w="1333500"/>
              </a:tblGrid>
              <a:tr h="738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Факт / ответ</a:t>
                      </a:r>
                    </a:p>
                  </a:txBody>
                  <a:tcPr marL="91440" marR="91440" marT="45720" marB="45720">
                    <a:solidFill>
                      <a:srgbClr val="E7EE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Setosa</a:t>
                      </a:r>
                    </a:p>
                  </a:txBody>
                  <a:tcPr marL="91440" marR="91440" marT="45720" marB="45720">
                    <a:solidFill>
                      <a:srgbClr val="E7EE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Versicolor</a:t>
                      </a:r>
                    </a:p>
                  </a:txBody>
                  <a:tcPr marL="91440" marR="91440" marT="45720" marB="45720">
                    <a:solidFill>
                      <a:srgbClr val="E7EE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Virginica</a:t>
                      </a:r>
                    </a:p>
                  </a:txBody>
                  <a:tcPr marL="91440" marR="91440" marT="45720" marB="45720">
                    <a:solidFill>
                      <a:srgbClr val="E7EEF3"/>
                    </a:solidFill>
                  </a:tcPr>
                </a:tc>
              </a:tr>
              <a:tr h="738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Setosa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Versicolor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Virginica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EE7B2F-F4B2-43A7-A1FA-486BBD2D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38750"/>
            <a:ext cx="590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Строки — фактический вид.</a:t>
            </a:r>
          </a:p>
          <a:p xmlns:a="http://schemas.openxmlformats.org/drawingml/2006/main">
            <a:pPr>
              <a:defRPr sz="20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Столбцы — ответ модели.</a:t>
            </a:r>
          </a:p>
        </p:txBody>
      </p:sp>
    </p:spTree>
    <p:extLst>
      <p:ext uri="{BB962C8B-B14F-4D97-AF65-F5344CB8AC3E}">
        <p14:creationId xmlns:p14="http://schemas.microsoft.com/office/powerpoint/2010/main" val="7085147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D9DF0-FCA0-452D-BA31-F858A979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Рабочий прототип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79631fa21c4763"/>
          <a:stretch xmlns:a="http://schemas.openxmlformats.org/drawingml/2006/main"/>
        </p:blipFill>
        <p:spPr>
          <a:xfrm xmlns:a="http://schemas.openxmlformats.org/drawingml/2006/main">
            <a:off x="2212932" y="1285875"/>
            <a:ext cx="7766137" cy="44291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057AD-5215-4DF3-A8FC-C9B3E25E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78D9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Arial"/>
                <a:cs typeface="Arial"/>
              </a:rPr>
              <a:t>iris.csv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F385D-FA3A-4FF3-A63D-B4C76A63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9245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78D9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Arial"/>
                <a:cs typeface="Arial"/>
              </a:rPr>
              <a:t>train.py</a:t>
            </a:r>
          </a:p>
        </p:txBody>
      </p:sp>
      <p:cxnSp>
        <p:nvCxnSpPr>
          <p:cNvPr id="16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419350" y="61817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C7A"/>
            </a:solidFill>
            <a:tailEnd type="arrow" w="med" len="me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045AB-E340-4AFA-8F2E-B64D0FA3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9245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78D9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Arial"/>
                <a:cs typeface="Arial"/>
              </a:rPr>
              <a:t>iris_model.pkl</a:t>
            </a:r>
          </a:p>
        </p:txBody>
      </p:sp>
      <p:cxnSp>
        <p:nvCxnSpPr>
          <p:cNvPr id="18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638675" y="61817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C7A"/>
            </a:solidFill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A33FC-FEF7-46AB-A653-405DAE4F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9245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78D9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Arial"/>
                <a:cs typeface="Arial"/>
              </a:rPr>
              <a:t>predict.py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858000" y="61817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C7A"/>
            </a:solidFill>
            <a:tail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46CE0-AF4D-4077-AFC0-0D0154DC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9245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78D9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B3A"/>
                </a:solidFill>
                <a:latin typeface="Arial"/>
                <a:ea typeface="Arial"/>
                <a:cs typeface="Arial"/>
              </a:rPr>
              <a:t>app.py</a:t>
            </a:r>
          </a:p>
        </p:txBody>
      </p:sp>
      <p:cxnSp>
        <p:nvCxnSpPr>
          <p:cNvPr id="22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077325" y="61817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C7A"/>
            </a:solidFill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9183313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C200E-5AC1-48C1-BFDA-9E4AB250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Выводы и демонстрация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58316-E846-44A3-93F2-0366AA64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Готово: модель, интерфейс и тесты запуска.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BBF7D-CB1A-4AD6-B201-3E960BC1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Ограничение: три вида и небольшая выборка.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E6B6FC-B2C4-4AAD-8E6E-6BCECF4D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Развитие: независимые данные и подробный анализ ошибок.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4333875"/>
          <a:ext xmlns:a="http://schemas.openxmlformats.org/drawingml/2006/main" cx="10972800" cy="1762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2762250"/>
                <a:gridCol w="2781300"/>
              </a:tblGrid>
              <a:tr h="587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Пример</a:t>
                      </a:r>
                    </a:p>
                  </a:txBody>
                  <a:tcPr marL="91440" marR="91440" marT="45720" marB="45720">
                    <a:solidFill>
                      <a:srgbClr val="E7EE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Реальный вид</a:t>
                      </a:r>
                    </a:p>
                  </a:txBody>
                  <a:tcPr marL="91440" marR="91440" marT="45720" marB="45720">
                    <a:solidFill>
                      <a:srgbClr val="E7EE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Ответ модели</a:t>
                      </a:r>
                    </a:p>
                  </a:txBody>
                  <a:tcPr marL="91440" marR="91440" marT="45720" marB="45720">
                    <a:solidFill>
                      <a:srgbClr val="E7EEF3"/>
                    </a:solidFill>
                  </a:tcPr>
                </a:tc>
              </a:tr>
              <a:tr h="587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4.4; 3; 1.3; 0.2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Setosa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Setosa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6.1; 2.6; 5.6; 1.4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Virginica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Versicolor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08907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2026-10-01T17:58:16.8340000Z</dcterms:created>
  <dcterms:modified xsi:type="dcterms:W3CDTF">2026-10-01T17:58:16.8340000Z</dcterms:modified>
</coreProperties>
</file>