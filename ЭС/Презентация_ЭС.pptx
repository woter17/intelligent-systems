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eb85cec2e24d64" /><Relationship Type="http://schemas.openxmlformats.org/officeDocument/2006/relationships/extended-properties" Target="/docProps/app.xml" Id="R59c56947d036426f" /><Relationship Type="http://schemas.openxmlformats.org/officeDocument/2006/relationships/officeDocument" Target="/ppt/presentation.xml" Id="Rcf17abf031634dcb" /></Relationships>
</file>

<file path=ppt/presentation.xml><?xml version="1.0" encoding="utf-8"?>
<p:presentation xmlns:p="http://schemas.openxmlformats.org/presentationml/2006/main">
  <p:sldMasterIdLst>
    <p:sldMasterId xmlns:r="http://schemas.openxmlformats.org/officeDocument/2006/relationships" id="2147483648" r:id="R7dc9213c9cdc40b3"/>
  </p:sldMasterIdLst>
  <p:notesMasterIdLst>
    <p:notesMasterId xmlns:r="http://schemas.openxmlformats.org/officeDocument/2006/relationships" r:id="R1ed16da1a6114298"/>
  </p:notesMasterIdLst>
  <p:sldIdLst>
    <p:sldId xmlns:r="http://schemas.openxmlformats.org/officeDocument/2006/relationships" id="256" r:id="R856d909f7cf444d0"/>
    <p:sldId xmlns:r="http://schemas.openxmlformats.org/officeDocument/2006/relationships" id="257" r:id="R7b48e264c2e4423c"/>
    <p:sldId xmlns:r="http://schemas.openxmlformats.org/officeDocument/2006/relationships" id="258" r:id="R15aadb54412247f8"/>
    <p:sldId xmlns:r="http://schemas.openxmlformats.org/officeDocument/2006/relationships" id="259" r:id="Rd0407b6888004bb7"/>
    <p:sldId xmlns:r="http://schemas.openxmlformats.org/officeDocument/2006/relationships" id="260" r:id="Ra9d2efb631b24152"/>
    <p:sldId xmlns:r="http://schemas.openxmlformats.org/officeDocument/2006/relationships" id="261" r:id="R24c893d31c144211"/>
    <p:sldId xmlns:r="http://schemas.openxmlformats.org/officeDocument/2006/relationships" id="262" r:id="Rfaca1f89c9884229"/>
    <p:sldId xmlns:r="http://schemas.openxmlformats.org/officeDocument/2006/relationships" id="263" r:id="R9e1b215c63644206"/>
    <p:sldId xmlns:r="http://schemas.openxmlformats.org/officeDocument/2006/relationships" id="264" r:id="Ra60814ea00354c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05f0e876844285" /><Relationship Type="http://schemas.openxmlformats.org/officeDocument/2006/relationships/slideMaster" Target="/ppt/slideMasters/slideMaster1.xml" Id="R7dc9213c9cdc40b3" /><Relationship Type="http://schemas.openxmlformats.org/officeDocument/2006/relationships/notesMaster" Target="/ppt/notesMasters/notesMaster1.xml" Id="R1ed16da1a6114298" /><Relationship Type="http://schemas.openxmlformats.org/officeDocument/2006/relationships/presProps" Target="/ppt/presProps.xml" Id="R5ad2158a46284f61" /><Relationship Type="http://schemas.openxmlformats.org/officeDocument/2006/relationships/tableStyles" Target="/ppt/tableStyles.xml" Id="Rf8afe6ca0a6143ab" /><Relationship Type="http://schemas.openxmlformats.org/officeDocument/2006/relationships/slide" Target="/ppt/slides/slide1.xml" Id="R856d909f7cf444d0" /><Relationship Type="http://schemas.openxmlformats.org/officeDocument/2006/relationships/slide" Target="/ppt/slides/slide2.xml" Id="R7b48e264c2e4423c" /><Relationship Type="http://schemas.openxmlformats.org/officeDocument/2006/relationships/slide" Target="/ppt/slides/slide3.xml" Id="R15aadb54412247f8" /><Relationship Type="http://schemas.openxmlformats.org/officeDocument/2006/relationships/slide" Target="/ppt/slides/slide4.xml" Id="Rd0407b6888004bb7" /><Relationship Type="http://schemas.openxmlformats.org/officeDocument/2006/relationships/slide" Target="/ppt/slides/slide5.xml" Id="Ra9d2efb631b24152" /><Relationship Type="http://schemas.openxmlformats.org/officeDocument/2006/relationships/slide" Target="/ppt/slides/slide6.xml" Id="R24c893d31c144211" /><Relationship Type="http://schemas.openxmlformats.org/officeDocument/2006/relationships/slide" Target="/ppt/slides/slide7.xml" Id="Rfaca1f89c9884229" /><Relationship Type="http://schemas.openxmlformats.org/officeDocument/2006/relationships/slide" Target="/ppt/slides/slide8.xml" Id="R9e1b215c63644206" /><Relationship Type="http://schemas.openxmlformats.org/officeDocument/2006/relationships/slide" Target="/ppt/slides/slide9.xml" Id="Ra60814ea00354c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9a5919c8e947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81ab1f779b4fa8" /><Relationship Type="http://schemas.openxmlformats.org/officeDocument/2006/relationships/notesMaster" Target="/ppt/notesMasters/notesMaster1.xml" Id="R636e95d62f6b48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af23af6dad461b" /><Relationship Type="http://schemas.openxmlformats.org/officeDocument/2006/relationships/notesMaster" Target="/ppt/notesMasters/notesMaster1.xml" Id="Re96562eff5f940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6380ef67ab4f3c" /><Relationship Type="http://schemas.openxmlformats.org/officeDocument/2006/relationships/notesMaster" Target="/ppt/notesMasters/notesMaster1.xml" Id="R3b5b57b5e4db48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90b2c1f766473e" /><Relationship Type="http://schemas.openxmlformats.org/officeDocument/2006/relationships/notesMaster" Target="/ppt/notesMasters/notesMaster1.xml" Id="Rfacf498d4d554e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fca2d517034eac" /><Relationship Type="http://schemas.openxmlformats.org/officeDocument/2006/relationships/notesMaster" Target="/ppt/notesMasters/notesMaster1.xml" Id="R5edb3207587446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4ed9bcbfac45ae" /><Relationship Type="http://schemas.openxmlformats.org/officeDocument/2006/relationships/notesMaster" Target="/ppt/notesMasters/notesMaster1.xml" Id="R969236d730db46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0e1b5c0f314ad2" /><Relationship Type="http://schemas.openxmlformats.org/officeDocument/2006/relationships/notesMaster" Target="/ppt/notesMasters/notesMaster1.xml" Id="R14134ae968d84a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f584f0b6044e6d" /><Relationship Type="http://schemas.openxmlformats.org/officeDocument/2006/relationships/notesMaster" Target="/ppt/notesMasters/notesMaster1.xml" Id="R58b75da11a5b42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b0c15e236044d3" /><Relationship Type="http://schemas.openxmlformats.org/officeDocument/2006/relationships/notesMaster" Target="/ppt/notesMasters/notesMaster1.xml" Id="Rb3aef04a1a8044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Я подготовил учебную экспертную систему по симптомам простудных заболеваний. В этой работе я показываю, как факты пользователя проходят через правила и превращаются в объяснимый вывод. Пользователь вводит температуру, длительность температуры и признаки, например кашель или насморк. Система создаёт учебные гипотезы и предупреждения, затем показывает итог и список сработавших правил. Основной результат работы — исполняемый прототип с цепочкой через промежуточные факты. Медицинскую точность я не заявляю: база маленькая и предназначена для изучения экспертных систем. В отчёте есть описание базы знаний, архитектура, два основных сценария и проверка исправления.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Цель системы — показать механизм логического вывода и сделать его понятным по истории правил. Предметная область связана с симптомами простудных заболеваний, а целевые пользователи этой учебной версии — студенты и преподаватель. Интерфейс работает через консоль: можно ввести факты вручную или выбрать готовый сценарий. Система отдельно хранит гипотезу и предупреждение. Это важно, потому что наличие гипотезы не должно скрывать предупреждение. Для успешной работы прототип должен запускаться, выдавать ожидаемые цепочки и очищать состояние перед новым случаем. Все условия проверки относятся к программе. Они не означают, что система может заменить осмотр человека специалистом.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База знаний состоит из семи правил. Первые три создают гипотезы по сочетаниям симптомов. R4 отмечает длительную температуру при слабости. R5 отмечает затруднённое дыхание. Эти правила относятся к первой фазе. R6 читает созданные гипотезы и предупреждения и формирует итоговый объект Decision. R7 отвечает за случай, когда совпадений с правилами нет. Числовые пороги используются как условия учебного проекта. Я не называю их проверенными диагностическими критериями. В коде каждое правило является методом с декоратором Rule. Декоратор хранит номер, название и фазу, а движок собирает эти методы и выполняет их в нужном порядке.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Архитектура состоит из ввода, механизма вывода, базы правил и вывода результата. Общий класс Fact используется как основа для остальных фактов. PatientSymptoms хранит вход. Hypothesis и WarningSign являются промежуточными фактами. Decision хранит выход. Метод declare добавляет факт, find выбирает факты нужного класса. Метод run сначала запускает правила, создающие промежуточные факты, затем правила решения. Если появились новые срабатывания, движок делает ещё проход. При этом каждое правило может сработать только один раз в одном случае. История нужна для объяснения результата. Метод reset очищает все факты и историю перед новым пациентом.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Дерево на слайде относится к выбору итогового действия. Сначала проверяется предупреждение о затруднённом дыхании. Если оно есть, оно получает приоритет. Затем проверяются другие предупреждения. Если предупреждений нет, но есть гипотеза, выводится учебная гипотеза. Если нет ни гипотезы, ни предупреждения, система сообщает о недостатке совпадений. Это не означает, что человек здоров. Важный момент: правила симптомов не являются одной взаимоисключающей цепочкой if-elif. Они могут создать несколько промежуточных фактов одновременно. Дерево показывает, как из этих фактов выбирается итоговое действие, а все гипотезы и предупреждения остаются в объяснении.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Первый сценарий — температура 37,6, насморк, кашель и слабость, два дня с температурой. До запуска я ожидаю срабатывание R1, а затем R6. R1 создаёт гипотезу признаков ОРВИ. R6 читает эту гипотезу и создаёт решение. Предупреждение о длительной температуре не появляется, потому что два дня не подходят под условие R4. На слайде показан просмотр фактического вывода запуска. Полный ввод и результат находятся в текстовом файле сценария. При демонстрации я запускаю команду python expert_system.py --scenario orvi и показываю список правил. Такой случай проверяет простую законченную цепочку от симптомов до решения.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Второй сценарий сложнее. Температура 39,1, кашель, озноб, слабость, головная боль и четыре дня с температурой. Я ожидаю R2 для гипотезы гриппа, R4 для предупреждения о длительности и R6 для общего решения. На слайде видно, что все три правила сработали. Итог содержит и гипотезу, и предупреждение. Именно этот случай помогает проверить, что полезная информация не теряется при составлении результата. Для показа использую команду python expert_system.py --scenario flu_warning. Затем могу показать urgent как дополнительную проверку приоритета предупреждения о дыхании. Эти результаты подтверждают логику программы на заданных сценариях, но не её медицинскую точность.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При проверке исходного прототипа я заметил, что готовые результаты правил не использовались другими правилами. Чтобы выполнить требование о промежуточных фактах, я выделил Hypothesis и WarningSign и добавил R6. Теперь выводы первых правил становятся входом следующего правила. В тесте второго сценария я проверяю, что предупреждение находится именно в Decision, а не только в списке сработавших правил. Проверки также охватывают четыре цепочки, очистку состояния, срочное предупреждение без гипотезы и ошибочные входные числа. Всего проходят десять проверок. Их можно запустить командой python -m pytest tests -q. Каждый участник должен уметь объяснить эту цепочку и показать соответствующие участки кода.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Я получил работающий учебный прототип с семью правилами, промежуточными фактами, объяснениями и проверенными сценариями. Ограничения остаются существенными: база небольшая, условия упрощены, программа не учитывает анализы и историю болезни. Система не назначает лечение и не выдаёт проценты достоверности, потому что для таких процентов нет проверенной статистики. Продолжить работу можно расширением тестов и проверкой противоречивого ввода. Чтобы применять подобную систему на практике, понадобилась бы отдельная оценка специалистами. Сейчас её назначение учебное. Далее я покажу два сценария в программе и объясню, какие факты создало каждое правило.</a:t>
            </a:r>
          </a:p>
          <a:p xmlns:a="http://schemas.openxmlformats.org/drawingml/2006/main">
            <a:r>
              <a:t>Источник: https://www.nhs.uk/conditions/flu/ . Условия правил взяты из исходного учебного проекта, их диагностическая точность не проверена.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874c450c3f4c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9ed283074d4367" /><Relationship Type="http://schemas.openxmlformats.org/officeDocument/2006/relationships/slideLayout" Target="/ppt/slideLayouts/slideLayout1.xml" Id="Ra729a404f3f543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29a404f3f543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e874f3068646fd" /><Relationship Type="http://schemas.openxmlformats.org/officeDocument/2006/relationships/notesSlide" Target="/ppt/notesSlides/notesSlide1.xml" Id="Rdff1110e224f4e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97ca21ccda242f3" /><Relationship Type="http://schemas.openxmlformats.org/officeDocument/2006/relationships/notesSlide" Target="/ppt/notesSlides/notesSlide2.xml" Id="Rf98a9bac4d3f48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d01693751e4987" /><Relationship Type="http://schemas.openxmlformats.org/officeDocument/2006/relationships/notesSlide" Target="/ppt/notesSlides/notesSlide3.xml" Id="R72ac92115da143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18abc8e732b4926" /><Relationship Type="http://schemas.openxmlformats.org/officeDocument/2006/relationships/notesSlide" Target="/ppt/notesSlides/notesSlide4.xml" Id="R98904d619ae940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6f2312ba224197" /><Relationship Type="http://schemas.openxmlformats.org/officeDocument/2006/relationships/notesSlide" Target="/ppt/notesSlides/notesSlide5.xml" Id="Red907f8c53904d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1e0f1911594c5f" /><Relationship Type="http://schemas.openxmlformats.org/officeDocument/2006/relationships/image" Target="/ppt/media/image.jpeg" Id="R7ef9e73b94234b99" /><Relationship Type="http://schemas.openxmlformats.org/officeDocument/2006/relationships/notesSlide" Target="/ppt/notesSlides/notesSlide6.xml" Id="R3e0653be37c942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046169a1ed4c98" /><Relationship Type="http://schemas.openxmlformats.org/officeDocument/2006/relationships/image" Target="/ppt/media/image2.jpeg" Id="Re509c9167e354757" /><Relationship Type="http://schemas.openxmlformats.org/officeDocument/2006/relationships/notesSlide" Target="/ppt/notesSlides/notesSlide7.xml" Id="Rb62ddc5c758643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73e7303068c4d0f" /><Relationship Type="http://schemas.openxmlformats.org/officeDocument/2006/relationships/notesSlide" Target="/ppt/notesSlides/notesSlide8.xml" Id="Rb51a0551a2dd46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ba97a7367cd475a" /><Relationship Type="http://schemas.openxmlformats.org/officeDocument/2006/relationships/notesSlide" Target="/ppt/notesSlides/notesSlide9.xml" Id="Rdf38574a9a344d3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9A72AED-BCA1-45A8-8EF4-51EBA518AAF0}"/>
              </a:ext>
            </a:extLst>
          </p:cNvPr>
          <p:cNvSpPr>
            <a:spLocks xmlns:a="http://schemas.openxmlformats.org/drawingml/2006/main" noGrp="1"/>
          </p:cNvSpPr>
          <p:nvPr/>
        </p:nvSpPr>
        <p:spPr>
          <a:xfrm xmlns:a="http://schemas.openxmlformats.org/drawingml/2006/main">
            <a:off x="609600" y="1143000"/>
            <a:ext cx="10953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350" b="1">
                <a:solidFill>
                  <a:srgbClr val="172B3A"/>
                </a:solidFill>
                <a:latin typeface="Arial"/>
                <a:ea typeface="Arial"/>
                <a:cs typeface="Arial"/>
              </a:defRPr>
            </a:pPr>
            <a:r>
              <a:rPr sz="4350" b="1">
                <a:solidFill>
                  <a:srgbClr val="172B3A"/>
                </a:solidFill>
                <a:latin typeface="Arial"/>
                <a:ea typeface="Arial"/>
                <a:cs typeface="Arial"/>
              </a:rPr>
              <a:t>Экспертная система</a:t>
            </a:r>
          </a:p>
          <a:p xmlns:a="http://schemas.openxmlformats.org/drawingml/2006/main">
            <a:pPr>
              <a:defRPr sz="4350" b="1">
                <a:solidFill>
                  <a:srgbClr val="172B3A"/>
                </a:solidFill>
                <a:latin typeface="Arial"/>
                <a:ea typeface="Arial"/>
                <a:cs typeface="Arial"/>
              </a:defRPr>
            </a:pPr>
            <a:r>
              <a:rPr sz="4350" b="1">
                <a:solidFill>
                  <a:srgbClr val="172B3A"/>
                </a:solidFill>
                <a:latin typeface="Arial"/>
                <a:ea typeface="Arial"/>
                <a:cs typeface="Arial"/>
              </a:rPr>
              <a:t>по симптомам простудных заболеваний</a:t>
            </a:r>
          </a:p>
        </p:txBody>
      </p:sp>
      <p:sp>
        <p:nvSpPr>
          <p:cNvPr id="2" name="">
            <a:extLst xmlns:a="http://schemas.openxmlformats.org/drawingml/2006/main">
              <a:ext uri="{FF2B5EF4-FFF2-40B4-BE49-F238E27FC236}">
                <a16:creationId xmlns:a16="http://schemas.microsoft.com/office/drawing/2014/main" id="{4E32EFA4-86FA-4ECE-BD94-0B4A0A25E1D2}"/>
              </a:ext>
            </a:extLst>
          </p:cNvPr>
          <p:cNvSpPr>
            <a:spLocks xmlns:a="http://schemas.openxmlformats.org/drawingml/2006/main" noGrp="1"/>
          </p:cNvSpPr>
          <p:nvPr/>
        </p:nvSpPr>
        <p:spPr>
          <a:xfrm xmlns:a="http://schemas.openxmlformats.org/drawingml/2006/main">
            <a:off x="609600" y="40957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Практические работы ЭС 3 и 4</a:t>
            </a:r>
          </a:p>
        </p:txBody>
      </p:sp>
      <p:sp>
        <p:nvSpPr>
          <p:cNvPr id="3" name="">
            <a:extLst xmlns:a="http://schemas.openxmlformats.org/drawingml/2006/main">
              <a:ext uri="{FF2B5EF4-FFF2-40B4-BE49-F238E27FC236}">
                <a16:creationId xmlns:a16="http://schemas.microsoft.com/office/drawing/2014/main" id="{49D44211-10C3-4EE3-928A-318361554528}"/>
              </a:ext>
            </a:extLst>
          </p:cNvPr>
          <p:cNvSpPr>
            <a:spLocks xmlns:a="http://schemas.openxmlformats.org/drawingml/2006/main" noGrp="1"/>
          </p:cNvSpPr>
          <p:nvPr/>
        </p:nvSpPr>
        <p:spPr>
          <a:xfrm xmlns:a="http://schemas.openxmlformats.org/drawingml/2006/main">
            <a:off x="609600" y="5095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72B3A"/>
                </a:solidFill>
                <a:latin typeface="Arial"/>
                <a:ea typeface="Arial"/>
                <a:cs typeface="Arial"/>
              </a:defRPr>
            </a:pPr>
            <a:r>
              <a:rPr sz="2025" b="0">
                <a:solidFill>
                  <a:srgbClr val="172B3A"/>
                </a:solidFill>
                <a:latin typeface="Arial"/>
                <a:ea typeface="Arial"/>
                <a:cs typeface="Arial"/>
              </a:rPr>
              <a:t>Алексеев Николай</a:t>
            </a:r>
          </a:p>
          <a:p xmlns:a="http://schemas.openxmlformats.org/drawingml/2006/main">
            <a:pPr>
              <a:defRPr sz="2025" b="0">
                <a:solidFill>
                  <a:srgbClr val="172B3A"/>
                </a:solidFill>
                <a:latin typeface="Arial"/>
                <a:ea typeface="Arial"/>
                <a:cs typeface="Arial"/>
              </a:defRPr>
            </a:pPr>
            <a:r>
              <a:rPr sz="2025" b="0">
                <a:solidFill>
                  <a:srgbClr val="172B3A"/>
                </a:solidFill>
                <a:latin typeface="Arial"/>
                <a:ea typeface="Arial"/>
                <a:cs typeface="Arial"/>
              </a:rPr>
              <a:t>ИТ 15-16</a:t>
            </a:r>
          </a:p>
        </p:txBody>
      </p:sp>
    </p:spTree>
    <p:extLst>
      <p:ext uri="{BB962C8B-B14F-4D97-AF65-F5344CB8AC3E}">
        <p14:creationId xmlns:p14="http://schemas.microsoft.com/office/powerpoint/2010/main" val="13209359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580C6D-E6E6-488A-8B19-A469D5ECCD26}"/>
              </a:ext>
            </a:extLst>
          </p:cNvPr>
          <p:cNvSpPr>
            <a:spLocks xmlns:a="http://schemas.openxmlformats.org/drawingml/2006/main" noGrp="1"/>
          </p:cNvSpPr>
          <p:nvPr/>
        </p:nvSpPr>
        <p:spPr>
          <a:xfrm xmlns:a="http://schemas.openxmlformats.org/drawingml/2006/main">
            <a:off x="609600" y="361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Назначение системы</a:t>
            </a:r>
          </a:p>
        </p:txBody>
      </p:sp>
      <p:sp>
        <p:nvSpPr>
          <p:cNvPr id="2" name="">
            <a:extLst xmlns:a="http://schemas.openxmlformats.org/drawingml/2006/main">
              <a:ext uri="{FF2B5EF4-FFF2-40B4-BE49-F238E27FC236}">
                <a16:creationId xmlns:a16="http://schemas.microsoft.com/office/drawing/2014/main" id="{0B8D5CE7-FBC3-4D8D-AD53-852FEE3A4406}"/>
              </a:ext>
            </a:extLst>
          </p:cNvPr>
          <p:cNvSpPr>
            <a:spLocks xmlns:a="http://schemas.openxmlformats.org/drawingml/2006/main" noGrp="1"/>
          </p:cNvSpPr>
          <p:nvPr/>
        </p:nvSpPr>
        <p:spPr>
          <a:xfrm xmlns:a="http://schemas.openxmlformats.org/drawingml/2006/main">
            <a:off x="609600" y="15240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72B3A"/>
                </a:solidFill>
                <a:latin typeface="Arial"/>
                <a:ea typeface="Arial"/>
                <a:cs typeface="Arial"/>
              </a:defRPr>
            </a:pPr>
            <a:r>
              <a:rPr sz="2325" b="0">
                <a:solidFill>
                  <a:srgbClr val="172B3A"/>
                </a:solidFill>
                <a:latin typeface="Arial"/>
                <a:ea typeface="Arial"/>
                <a:cs typeface="Arial"/>
              </a:rPr>
              <a:t>Цель: показать вывод по правилам и объяснить результат.</a:t>
            </a:r>
          </a:p>
        </p:txBody>
      </p:sp>
      <p:sp>
        <p:nvSpPr>
          <p:cNvPr id="3" name="">
            <a:extLst xmlns:a="http://schemas.openxmlformats.org/drawingml/2006/main">
              <a:ext uri="{FF2B5EF4-FFF2-40B4-BE49-F238E27FC236}">
                <a16:creationId xmlns:a16="http://schemas.microsoft.com/office/drawing/2014/main" id="{CAB6EC7C-0FED-42A2-8CB5-0086356BA8AF}"/>
              </a:ext>
            </a:extLst>
          </p:cNvPr>
          <p:cNvSpPr>
            <a:spLocks xmlns:a="http://schemas.openxmlformats.org/drawingml/2006/main" noGrp="1"/>
          </p:cNvSpPr>
          <p:nvPr/>
        </p:nvSpPr>
        <p:spPr>
          <a:xfrm xmlns:a="http://schemas.openxmlformats.org/drawingml/2006/main">
            <a:off x="609600" y="257175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72B3A"/>
                </a:solidFill>
                <a:latin typeface="Arial"/>
                <a:ea typeface="Arial"/>
                <a:cs typeface="Arial"/>
              </a:defRPr>
            </a:pPr>
            <a:r>
              <a:rPr sz="2325" b="0">
                <a:solidFill>
                  <a:srgbClr val="172B3A"/>
                </a:solidFill>
                <a:latin typeface="Arial"/>
                <a:ea typeface="Arial"/>
                <a:cs typeface="Arial"/>
              </a:rPr>
              <a:t>Аудитория: студенты и преподаватель.</a:t>
            </a:r>
          </a:p>
        </p:txBody>
      </p:sp>
      <p:sp>
        <p:nvSpPr>
          <p:cNvPr id="4" name="">
            <a:extLst xmlns:a="http://schemas.openxmlformats.org/drawingml/2006/main">
              <a:ext uri="{FF2B5EF4-FFF2-40B4-BE49-F238E27FC236}">
                <a16:creationId xmlns:a16="http://schemas.microsoft.com/office/drawing/2014/main" id="{FC9765EF-72D0-4D7D-AFB3-69C88334154C}"/>
              </a:ext>
            </a:extLst>
          </p:cNvPr>
          <p:cNvSpPr>
            <a:spLocks xmlns:a="http://schemas.openxmlformats.org/drawingml/2006/main" noGrp="1"/>
          </p:cNvSpPr>
          <p:nvPr/>
        </p:nvSpPr>
        <p:spPr>
          <a:xfrm xmlns:a="http://schemas.openxmlformats.org/drawingml/2006/main">
            <a:off x="609600" y="36195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72B3A"/>
                </a:solidFill>
                <a:latin typeface="Arial"/>
                <a:ea typeface="Arial"/>
                <a:cs typeface="Arial"/>
              </a:defRPr>
            </a:pPr>
            <a:r>
              <a:rPr sz="2325" b="0">
                <a:solidFill>
                  <a:srgbClr val="172B3A"/>
                </a:solidFill>
                <a:latin typeface="Arial"/>
                <a:ea typeface="Arial"/>
                <a:cs typeface="Arial"/>
              </a:rPr>
              <a:t>Область: признаки простудных заболеваний.</a:t>
            </a:r>
          </a:p>
        </p:txBody>
      </p:sp>
      <p:sp>
        <p:nvSpPr>
          <p:cNvPr id="5" name="">
            <a:extLst xmlns:a="http://schemas.openxmlformats.org/drawingml/2006/main">
              <a:ext uri="{FF2B5EF4-FFF2-40B4-BE49-F238E27FC236}">
                <a16:creationId xmlns:a16="http://schemas.microsoft.com/office/drawing/2014/main" id="{3BA5D534-8798-4FDB-BC84-E05C937D4926}"/>
              </a:ext>
            </a:extLst>
          </p:cNvPr>
          <p:cNvSpPr>
            <a:spLocks xmlns:a="http://schemas.openxmlformats.org/drawingml/2006/main" noGrp="1"/>
          </p:cNvSpPr>
          <p:nvPr/>
        </p:nvSpPr>
        <p:spPr>
          <a:xfrm xmlns:a="http://schemas.openxmlformats.org/drawingml/2006/main">
            <a:off x="609600" y="466725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72B3A"/>
                </a:solidFill>
                <a:latin typeface="Arial"/>
                <a:ea typeface="Arial"/>
                <a:cs typeface="Arial"/>
              </a:defRPr>
            </a:pPr>
            <a:r>
              <a:rPr sz="2325" b="0">
                <a:solidFill>
                  <a:srgbClr val="172B3A"/>
                </a:solidFill>
                <a:latin typeface="Arial"/>
                <a:ea typeface="Arial"/>
                <a:cs typeface="Arial"/>
              </a:rPr>
              <a:t>Функции: ввод симптомов, гипотезы, предупреждения, история правил.</a:t>
            </a:r>
          </a:p>
        </p:txBody>
      </p:sp>
      <p:sp>
        <p:nvSpPr>
          <p:cNvPr id="6" name="">
            <a:extLst xmlns:a="http://schemas.openxmlformats.org/drawingml/2006/main">
              <a:ext uri="{FF2B5EF4-FFF2-40B4-BE49-F238E27FC236}">
                <a16:creationId xmlns:a16="http://schemas.microsoft.com/office/drawing/2014/main" id="{86F2707D-3D9A-401D-9575-0F88C0F8438E}"/>
              </a:ext>
            </a:extLst>
          </p:cNvPr>
          <p:cNvSpPr>
            <a:spLocks xmlns:a="http://schemas.openxmlformats.org/drawingml/2006/main" noGrp="1"/>
          </p:cNvSpPr>
          <p:nvPr/>
        </p:nvSpPr>
        <p:spPr>
          <a:xfrm xmlns:a="http://schemas.openxmlformats.org/drawingml/2006/main">
            <a:off x="609600" y="581025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72B3A"/>
                </a:solidFill>
                <a:latin typeface="Arial"/>
                <a:ea typeface="Arial"/>
                <a:cs typeface="Arial"/>
              </a:defRPr>
            </a:pPr>
            <a:r>
              <a:rPr sz="2025" b="0">
                <a:solidFill>
                  <a:srgbClr val="172B3A"/>
                </a:solidFill>
                <a:latin typeface="Arial"/>
                <a:ea typeface="Arial"/>
                <a:cs typeface="Arial"/>
              </a:rPr>
              <a:t>Критерии успеха: ожидаемые цепочки, reset и проверка ввода.</a:t>
            </a:r>
          </a:p>
        </p:txBody>
      </p:sp>
    </p:spTree>
    <p:extLst>
      <p:ext uri="{BB962C8B-B14F-4D97-AF65-F5344CB8AC3E}">
        <p14:creationId xmlns:p14="http://schemas.microsoft.com/office/powerpoint/2010/main" val="18748709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26B83BBA-F0E1-451E-8DCD-29357A268E87}"/>
              </a:ext>
            </a:extLst>
          </p:cNvPr>
          <p:cNvSpPr>
            <a:spLocks xmlns:a="http://schemas.openxmlformats.org/drawingml/2006/main" noGrp="1"/>
          </p:cNvSpPr>
          <p:nvPr/>
        </p:nvSpPr>
        <p:spPr>
          <a:xfrm xmlns:a="http://schemas.openxmlformats.org/drawingml/2006/main">
            <a:off x="609600" y="361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База знаний</a:t>
            </a:r>
          </a:p>
        </p:txBody>
      </p:sp>
      <p:graphicFrame>
        <p:nvGraphicFramePr>
          <p:cNvPr id="4" name=""/>
          <p:cNvGraphicFramePr/>
          <p:nvPr/>
        </p:nvGraphicFramePr>
        <p:xfrm>
          <a:off xmlns:a="http://schemas.openxmlformats.org/drawingml/2006/main" x="609600" y="1428750"/>
          <a:ext xmlns:a="http://schemas.openxmlformats.org/drawingml/2006/main" cx="10972800" cy="4714875"/>
        </p:xfrm>
        <a:graphic xmlns:a="http://schemas.openxmlformats.org/drawingml/2006/main">
          <a:graphicData uri="http://schemas.openxmlformats.org/drawingml/2006/table">
            <a:tbl>
              <a:tblPr/>
              <a:tblGrid>
                <a:gridCol w="1047750"/>
                <a:gridCol w="6048375"/>
                <a:gridCol w="3876675"/>
              </a:tblGrid>
              <a:tr h="589359">
                <a:tc>
                  <a:txBody>
                    <a:bodyPr>
                      <a:noAutofit/>
                    </a:bodyPr>
                    <a:lstStyle/>
                    <a:p>
                      <a:r>
                        <a:rPr sz="1725" b="1">
                          <a:solidFill>
                            <a:srgbClr val="172B3A"/>
                          </a:solidFill>
                          <a:latin typeface="Arial"/>
                          <a:ea typeface="Arial"/>
                          <a:cs typeface="Arial"/>
                        </a:rPr>
                        <a:t>ID</a:t>
                      </a:r>
                    </a:p>
                  </a:txBody>
                  <a:tcPr marL="91440" marR="91440" marT="45720" marB="45720">
                    <a:solidFill>
                      <a:srgbClr val="E7EEF3"/>
                    </a:solidFill>
                  </a:tcPr>
                </a:tc>
                <a:tc>
                  <a:txBody>
                    <a:bodyPr>
                      <a:noAutofit/>
                    </a:bodyPr>
                    <a:lstStyle/>
                    <a:p>
                      <a:r>
                        <a:rPr sz="1725" b="1">
                          <a:solidFill>
                            <a:srgbClr val="172B3A"/>
                          </a:solidFill>
                          <a:latin typeface="Arial"/>
                          <a:ea typeface="Arial"/>
                          <a:cs typeface="Arial"/>
                        </a:rPr>
                        <a:t>Условие или назначение</a:t>
                      </a:r>
                    </a:p>
                  </a:txBody>
                  <a:tcPr marL="91440" marR="91440" marT="45720" marB="45720">
                    <a:solidFill>
                      <a:srgbClr val="E7EEF3"/>
                    </a:solidFill>
                  </a:tcPr>
                </a:tc>
                <a:tc>
                  <a:txBody>
                    <a:bodyPr>
                      <a:noAutofit/>
                    </a:bodyPr>
                    <a:lstStyle/>
                    <a:p>
                      <a:r>
                        <a:rPr sz="1725" b="1">
                          <a:solidFill>
                            <a:srgbClr val="172B3A"/>
                          </a:solidFill>
                          <a:latin typeface="Arial"/>
                          <a:ea typeface="Arial"/>
                          <a:cs typeface="Arial"/>
                        </a:rPr>
                        <a:t>Результат</a:t>
                      </a:r>
                    </a:p>
                  </a:txBody>
                  <a:tcPr marL="91440" marR="91440" marT="45720" marB="45720">
                    <a:solidFill>
                      <a:srgbClr val="E7EEF3"/>
                    </a:solidFill>
                  </a:tcPr>
                </a:tc>
              </a:tr>
              <a:tr h="589359">
                <a:tc>
                  <a:txBody>
                    <a:bodyPr>
                      <a:noAutofit/>
                    </a:bodyPr>
                    <a:lstStyle/>
                    <a:p>
                      <a:r>
                        <a:rPr sz="1725" b="0">
                          <a:solidFill>
                            <a:srgbClr val="172B3A"/>
                          </a:solidFill>
                          <a:latin typeface="Arial"/>
                          <a:ea typeface="Arial"/>
                          <a:cs typeface="Arial"/>
                        </a:rPr>
                        <a:t>R1</a:t>
                      </a:r>
                    </a:p>
                  </a:txBody>
                  <a:tcPr marL="91440" marR="91440" marT="45720" marB="45720">
                    <a:solidFill>
                      <a:srgbClr val="FFFFFF"/>
                    </a:solidFill>
                  </a:tcPr>
                </a:tc>
                <a:tc>
                  <a:txBody>
                    <a:bodyPr>
                      <a:noAutofit/>
                    </a:bodyPr>
                    <a:lstStyle/>
                    <a:p>
                      <a:r>
                        <a:rPr sz="1725" b="0">
                          <a:solidFill>
                            <a:srgbClr val="172B3A"/>
                          </a:solidFill>
                          <a:latin typeface="Arial"/>
                          <a:ea typeface="Arial"/>
                          <a:cs typeface="Arial"/>
                        </a:rPr>
                        <a:t>Насморк, кашель, температура 37–38</a:t>
                      </a:r>
                    </a:p>
                  </a:txBody>
                  <a:tcPr marL="91440" marR="91440" marT="45720" marB="45720">
                    <a:solidFill>
                      <a:srgbClr val="FFFFFF"/>
                    </a:solidFill>
                  </a:tcPr>
                </a:tc>
                <a:tc>
                  <a:txBody>
                    <a:bodyPr>
                      <a:noAutofit/>
                    </a:bodyPr>
                    <a:lstStyle/>
                    <a:p>
                      <a:r>
                        <a:rPr sz="1725" b="0">
                          <a:solidFill>
                            <a:srgbClr val="172B3A"/>
                          </a:solidFill>
                          <a:latin typeface="Arial"/>
                          <a:ea typeface="Arial"/>
                          <a:cs typeface="Arial"/>
                        </a:rPr>
                        <a:t>Гипотеза ОРВИ</a:t>
                      </a:r>
                    </a:p>
                  </a:txBody>
                  <a:tcPr marL="91440" marR="91440" marT="45720" marB="45720">
                    <a:solidFill>
                      <a:srgbClr val="FFFFFF"/>
                    </a:solidFill>
                  </a:tcPr>
                </a:tc>
              </a:tr>
              <a:tr h="589359">
                <a:tc>
                  <a:txBody>
                    <a:bodyPr>
                      <a:noAutofit/>
                    </a:bodyPr>
                    <a:lstStyle/>
                    <a:p>
                      <a:r>
                        <a:rPr sz="1725" b="0">
                          <a:solidFill>
                            <a:srgbClr val="172B3A"/>
                          </a:solidFill>
                          <a:latin typeface="Arial"/>
                          <a:ea typeface="Arial"/>
                          <a:cs typeface="Arial"/>
                        </a:rPr>
                        <a:t>R2</a:t>
                      </a:r>
                    </a:p>
                  </a:txBody>
                  <a:tcPr marL="91440" marR="91440" marT="45720" marB="45720">
                    <a:solidFill>
                      <a:srgbClr val="FFFFFF"/>
                    </a:solidFill>
                  </a:tcPr>
                </a:tc>
                <a:tc>
                  <a:txBody>
                    <a:bodyPr>
                      <a:noAutofit/>
                    </a:bodyPr>
                    <a:lstStyle/>
                    <a:p>
                      <a:r>
                        <a:rPr sz="1725" b="0">
                          <a:solidFill>
                            <a:srgbClr val="172B3A"/>
                          </a:solidFill>
                          <a:latin typeface="Arial"/>
                          <a:ea typeface="Arial"/>
                          <a:cs typeface="Arial"/>
                        </a:rPr>
                        <a:t>От 38,5, озноб, слабость, головная боль</a:t>
                      </a:r>
                    </a:p>
                  </a:txBody>
                  <a:tcPr marL="91440" marR="91440" marT="45720" marB="45720">
                    <a:solidFill>
                      <a:srgbClr val="FFFFFF"/>
                    </a:solidFill>
                  </a:tcPr>
                </a:tc>
                <a:tc>
                  <a:txBody>
                    <a:bodyPr>
                      <a:noAutofit/>
                    </a:bodyPr>
                    <a:lstStyle/>
                    <a:p>
                      <a:r>
                        <a:rPr sz="1725" b="0">
                          <a:solidFill>
                            <a:srgbClr val="172B3A"/>
                          </a:solidFill>
                          <a:latin typeface="Arial"/>
                          <a:ea typeface="Arial"/>
                          <a:cs typeface="Arial"/>
                        </a:rPr>
                        <a:t>Гипотеза гриппа</a:t>
                      </a:r>
                    </a:p>
                  </a:txBody>
                  <a:tcPr marL="91440" marR="91440" marT="45720" marB="45720">
                    <a:solidFill>
                      <a:srgbClr val="FFFFFF"/>
                    </a:solidFill>
                  </a:tcPr>
                </a:tc>
              </a:tr>
              <a:tr h="589359">
                <a:tc>
                  <a:txBody>
                    <a:bodyPr>
                      <a:noAutofit/>
                    </a:bodyPr>
                    <a:lstStyle/>
                    <a:p>
                      <a:r>
                        <a:rPr sz="1725" b="0">
                          <a:solidFill>
                            <a:srgbClr val="172B3A"/>
                          </a:solidFill>
                          <a:latin typeface="Arial"/>
                          <a:ea typeface="Arial"/>
                          <a:cs typeface="Arial"/>
                        </a:rPr>
                        <a:t>R3</a:t>
                      </a:r>
                    </a:p>
                  </a:txBody>
                  <a:tcPr marL="91440" marR="91440" marT="45720" marB="45720">
                    <a:solidFill>
                      <a:srgbClr val="FFFFFF"/>
                    </a:solidFill>
                  </a:tcPr>
                </a:tc>
                <a:tc>
                  <a:txBody>
                    <a:bodyPr>
                      <a:noAutofit/>
                    </a:bodyPr>
                    <a:lstStyle/>
                    <a:p>
                      <a:r>
                        <a:rPr sz="1725" b="0">
                          <a:solidFill>
                            <a:srgbClr val="172B3A"/>
                          </a:solidFill>
                          <a:latin typeface="Arial"/>
                          <a:ea typeface="Arial"/>
                          <a:cs typeface="Arial"/>
                        </a:rPr>
                        <a:t>От 38, сильная боль в горле, трудно глотать</a:t>
                      </a:r>
                    </a:p>
                  </a:txBody>
                  <a:tcPr marL="91440" marR="91440" marT="45720" marB="45720">
                    <a:solidFill>
                      <a:srgbClr val="FFFFFF"/>
                    </a:solidFill>
                  </a:tcPr>
                </a:tc>
                <a:tc>
                  <a:txBody>
                    <a:bodyPr>
                      <a:noAutofit/>
                    </a:bodyPr>
                    <a:lstStyle/>
                    <a:p>
                      <a:r>
                        <a:rPr sz="1725" b="0">
                          <a:solidFill>
                            <a:srgbClr val="172B3A"/>
                          </a:solidFill>
                          <a:latin typeface="Arial"/>
                          <a:ea typeface="Arial"/>
                          <a:cs typeface="Arial"/>
                        </a:rPr>
                        <a:t>Гипотеза воспаления горла</a:t>
                      </a:r>
                    </a:p>
                  </a:txBody>
                  <a:tcPr marL="91440" marR="91440" marT="45720" marB="45720">
                    <a:solidFill>
                      <a:srgbClr val="FFFFFF"/>
                    </a:solidFill>
                  </a:tcPr>
                </a:tc>
              </a:tr>
              <a:tr h="589359">
                <a:tc>
                  <a:txBody>
                    <a:bodyPr>
                      <a:noAutofit/>
                    </a:bodyPr>
                    <a:lstStyle/>
                    <a:p>
                      <a:r>
                        <a:rPr sz="1725" b="0">
                          <a:solidFill>
                            <a:srgbClr val="172B3A"/>
                          </a:solidFill>
                          <a:latin typeface="Arial"/>
                          <a:ea typeface="Arial"/>
                          <a:cs typeface="Arial"/>
                        </a:rPr>
                        <a:t>R4</a:t>
                      </a:r>
                    </a:p>
                  </a:txBody>
                  <a:tcPr marL="91440" marR="91440" marT="45720" marB="45720">
                    <a:solidFill>
                      <a:srgbClr val="FFFFFF"/>
                    </a:solidFill>
                  </a:tcPr>
                </a:tc>
                <a:tc>
                  <a:txBody>
                    <a:bodyPr>
                      <a:noAutofit/>
                    </a:bodyPr>
                    <a:lstStyle/>
                    <a:p>
                      <a:r>
                        <a:rPr sz="1725" b="0">
                          <a:solidFill>
                            <a:srgbClr val="172B3A"/>
                          </a:solidFill>
                          <a:latin typeface="Arial"/>
                          <a:ea typeface="Arial"/>
                          <a:cs typeface="Arial"/>
                        </a:rPr>
                        <a:t>От 37, более 3 дней, слабость</a:t>
                      </a:r>
                    </a:p>
                  </a:txBody>
                  <a:tcPr marL="91440" marR="91440" marT="45720" marB="45720">
                    <a:solidFill>
                      <a:srgbClr val="FFFFFF"/>
                    </a:solidFill>
                  </a:tcPr>
                </a:tc>
                <a:tc>
                  <a:txBody>
                    <a:bodyPr>
                      <a:noAutofit/>
                    </a:bodyPr>
                    <a:lstStyle/>
                    <a:p>
                      <a:r>
                        <a:rPr sz="1725" b="0">
                          <a:solidFill>
                            <a:srgbClr val="172B3A"/>
                          </a:solidFill>
                          <a:latin typeface="Arial"/>
                          <a:ea typeface="Arial"/>
                          <a:cs typeface="Arial"/>
                        </a:rPr>
                        <a:t>Предупреждение</a:t>
                      </a:r>
                    </a:p>
                  </a:txBody>
                  <a:tcPr marL="91440" marR="91440" marT="45720" marB="45720">
                    <a:solidFill>
                      <a:srgbClr val="FFFFFF"/>
                    </a:solidFill>
                  </a:tcPr>
                </a:tc>
              </a:tr>
              <a:tr h="589359">
                <a:tc>
                  <a:txBody>
                    <a:bodyPr>
                      <a:noAutofit/>
                    </a:bodyPr>
                    <a:lstStyle/>
                    <a:p>
                      <a:r>
                        <a:rPr sz="1725" b="0">
                          <a:solidFill>
                            <a:srgbClr val="172B3A"/>
                          </a:solidFill>
                          <a:latin typeface="Arial"/>
                          <a:ea typeface="Arial"/>
                          <a:cs typeface="Arial"/>
                        </a:rPr>
                        <a:t>R5</a:t>
                      </a:r>
                    </a:p>
                  </a:txBody>
                  <a:tcPr marL="91440" marR="91440" marT="45720" marB="45720">
                    <a:solidFill>
                      <a:srgbClr val="FFFFFF"/>
                    </a:solidFill>
                  </a:tcPr>
                </a:tc>
                <a:tc>
                  <a:txBody>
                    <a:bodyPr>
                      <a:noAutofit/>
                    </a:bodyPr>
                    <a:lstStyle/>
                    <a:p>
                      <a:r>
                        <a:rPr sz="1725" b="0">
                          <a:solidFill>
                            <a:srgbClr val="172B3A"/>
                          </a:solidFill>
                          <a:latin typeface="Arial"/>
                          <a:ea typeface="Arial"/>
                          <a:cs typeface="Arial"/>
                        </a:rPr>
                        <a:t>Затруднённое дыхание</a:t>
                      </a:r>
                    </a:p>
                  </a:txBody>
                  <a:tcPr marL="91440" marR="91440" marT="45720" marB="45720">
                    <a:solidFill>
                      <a:srgbClr val="FFFFFF"/>
                    </a:solidFill>
                  </a:tcPr>
                </a:tc>
                <a:tc>
                  <a:txBody>
                    <a:bodyPr>
                      <a:noAutofit/>
                    </a:bodyPr>
                    <a:lstStyle/>
                    <a:p>
                      <a:r>
                        <a:rPr sz="1725" b="0">
                          <a:solidFill>
                            <a:srgbClr val="172B3A"/>
                          </a:solidFill>
                          <a:latin typeface="Arial"/>
                          <a:ea typeface="Arial"/>
                          <a:cs typeface="Arial"/>
                        </a:rPr>
                        <a:t>Срочное предупреждение</a:t>
                      </a:r>
                    </a:p>
                  </a:txBody>
                  <a:tcPr marL="91440" marR="91440" marT="45720" marB="45720">
                    <a:solidFill>
                      <a:srgbClr val="FFFFFF"/>
                    </a:solidFill>
                  </a:tcPr>
                </a:tc>
              </a:tr>
              <a:tr h="589359">
                <a:tc>
                  <a:txBody>
                    <a:bodyPr>
                      <a:noAutofit/>
                    </a:bodyPr>
                    <a:lstStyle/>
                    <a:p>
                      <a:r>
                        <a:rPr sz="1725" b="0">
                          <a:solidFill>
                            <a:srgbClr val="172B3A"/>
                          </a:solidFill>
                          <a:latin typeface="Arial"/>
                          <a:ea typeface="Arial"/>
                          <a:cs typeface="Arial"/>
                        </a:rPr>
                        <a:t>R6</a:t>
                      </a:r>
                    </a:p>
                  </a:txBody>
                  <a:tcPr marL="91440" marR="91440" marT="45720" marB="45720">
                    <a:solidFill>
                      <a:srgbClr val="FFFFFF"/>
                    </a:solidFill>
                  </a:tcPr>
                </a:tc>
                <a:tc>
                  <a:txBody>
                    <a:bodyPr>
                      <a:noAutofit/>
                    </a:bodyPr>
                    <a:lstStyle/>
                    <a:p>
                      <a:r>
                        <a:rPr sz="1725" b="0">
                          <a:solidFill>
                            <a:srgbClr val="172B3A"/>
                          </a:solidFill>
                          <a:latin typeface="Arial"/>
                          <a:ea typeface="Arial"/>
                          <a:cs typeface="Arial"/>
                        </a:rPr>
                        <a:t>Читает гипотезы и предупреждения</a:t>
                      </a:r>
                    </a:p>
                  </a:txBody>
                  <a:tcPr marL="91440" marR="91440" marT="45720" marB="45720">
                    <a:solidFill>
                      <a:srgbClr val="FFFFFF"/>
                    </a:solidFill>
                  </a:tcPr>
                </a:tc>
                <a:tc>
                  <a:txBody>
                    <a:bodyPr>
                      <a:noAutofit/>
                    </a:bodyPr>
                    <a:lstStyle/>
                    <a:p>
                      <a:r>
                        <a:rPr sz="1725" b="0">
                          <a:solidFill>
                            <a:srgbClr val="172B3A"/>
                          </a:solidFill>
                          <a:latin typeface="Arial"/>
                          <a:ea typeface="Arial"/>
                          <a:cs typeface="Arial"/>
                        </a:rPr>
                        <a:t>Итоговое решение</a:t>
                      </a:r>
                    </a:p>
                  </a:txBody>
                  <a:tcPr marL="91440" marR="91440" marT="45720" marB="45720">
                    <a:solidFill>
                      <a:srgbClr val="FFFFFF"/>
                    </a:solidFill>
                  </a:tcPr>
                </a:tc>
              </a:tr>
              <a:tr h="589359">
                <a:tc>
                  <a:txBody>
                    <a:bodyPr>
                      <a:noAutofit/>
                    </a:bodyPr>
                    <a:lstStyle/>
                    <a:p>
                      <a:r>
                        <a:rPr sz="1725" b="0">
                          <a:solidFill>
                            <a:srgbClr val="172B3A"/>
                          </a:solidFill>
                          <a:latin typeface="Arial"/>
                          <a:ea typeface="Arial"/>
                          <a:cs typeface="Arial"/>
                        </a:rPr>
                        <a:t>R7</a:t>
                      </a:r>
                    </a:p>
                  </a:txBody>
                  <a:tcPr marL="91440" marR="91440" marT="45720" marB="45720">
                    <a:solidFill>
                      <a:srgbClr val="FFFFFF"/>
                    </a:solidFill>
                  </a:tcPr>
                </a:tc>
                <a:tc>
                  <a:txBody>
                    <a:bodyPr>
                      <a:noAutofit/>
                    </a:bodyPr>
                    <a:lstStyle/>
                    <a:p>
                      <a:r>
                        <a:rPr sz="1725" b="0">
                          <a:solidFill>
                            <a:srgbClr val="172B3A"/>
                          </a:solidFill>
                          <a:latin typeface="Arial"/>
                          <a:ea typeface="Arial"/>
                          <a:cs typeface="Arial"/>
                        </a:rPr>
                        <a:t>Нет совпадений с правилами</a:t>
                      </a:r>
                    </a:p>
                  </a:txBody>
                  <a:tcPr marL="91440" marR="91440" marT="45720" marB="45720">
                    <a:solidFill>
                      <a:srgbClr val="FFFFFF"/>
                    </a:solidFill>
                  </a:tcPr>
                </a:tc>
                <a:tc>
                  <a:txBody>
                    <a:bodyPr>
                      <a:noAutofit/>
                    </a:bodyPr>
                    <a:lstStyle/>
                    <a:p>
                      <a:r>
                        <a:rPr sz="1725" b="0">
                          <a:solidFill>
                            <a:srgbClr val="172B3A"/>
                          </a:solidFill>
                          <a:latin typeface="Arial"/>
                          <a:ea typeface="Arial"/>
                          <a:cs typeface="Arial"/>
                        </a:rPr>
                        <a:t>Сообщение о недостатке данных</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895525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A16CD71-D61B-4055-A16A-ED711FCD3799}"/>
              </a:ext>
            </a:extLst>
          </p:cNvPr>
          <p:cNvSpPr>
            <a:spLocks xmlns:a="http://schemas.openxmlformats.org/drawingml/2006/main" noGrp="1"/>
          </p:cNvSpPr>
          <p:nvPr/>
        </p:nvSpPr>
        <p:spPr>
          <a:xfrm xmlns:a="http://schemas.openxmlformats.org/drawingml/2006/main">
            <a:off x="609600" y="361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Факты и архитектура</a:t>
            </a:r>
          </a:p>
        </p:txBody>
      </p:sp>
      <p:sp>
        <p:nvSpPr>
          <p:cNvPr id="2" name="">
            <a:extLst xmlns:a="http://schemas.openxmlformats.org/drawingml/2006/main">
              <a:ext uri="{FF2B5EF4-FFF2-40B4-BE49-F238E27FC236}">
                <a16:creationId xmlns:a16="http://schemas.microsoft.com/office/drawing/2014/main" id="{0A4352D3-4D07-44A8-B205-E8CF4E75BEC8}"/>
              </a:ext>
            </a:extLst>
          </p:cNvPr>
          <p:cNvSpPr>
            <a:spLocks xmlns:a="http://schemas.openxmlformats.org/drawingml/2006/main" noGrp="1"/>
          </p:cNvSpPr>
          <p:nvPr/>
        </p:nvSpPr>
        <p:spPr>
          <a:xfrm xmlns:a="http://schemas.openxmlformats.org/drawingml/2006/main">
            <a:off x="666750" y="1809750"/>
            <a:ext cx="42862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778D9F"/>
            </a:solidFill>
          </a:ln>
        </p:spPr>
        <p:txBody>
          <a:bodyPr xmlns:a="http://schemas.openxmlformats.org/drawingml/2006/main" anchor="ctr">
            <a:noAutofit/>
          </a:bodyPr>
          <a:lstStyle xmlns:a="http://schemas.openxmlformats.org/drawingml/2006/main"/>
          <a:p xmlns:a="http://schemas.openxmlformats.org/drawingml/2006/main">
            <a:pPr algn="ctr">
              <a:defRPr sz="2325">
                <a:solidFill>
                  <a:srgbClr val="172B3A"/>
                </a:solidFill>
                <a:latin typeface="Arial"/>
                <a:ea typeface="Arial"/>
                <a:cs typeface="Arial"/>
              </a:defRPr>
            </a:pPr>
            <a:r>
              <a:rPr sz="2325">
                <a:solidFill>
                  <a:srgbClr val="172B3A"/>
                </a:solidFill>
                <a:latin typeface="Arial"/>
                <a:ea typeface="Arial"/>
                <a:cs typeface="Arial"/>
              </a:rPr>
              <a:t>Ввод</a:t>
            </a:r>
          </a:p>
          <a:p xmlns:a="http://schemas.openxmlformats.org/drawingml/2006/main">
            <a:pPr algn="ctr">
              <a:defRPr sz="2325">
                <a:solidFill>
                  <a:srgbClr val="172B3A"/>
                </a:solidFill>
                <a:latin typeface="Arial"/>
                <a:ea typeface="Arial"/>
                <a:cs typeface="Arial"/>
              </a:defRPr>
            </a:pPr>
            <a:r>
              <a:rPr sz="2325">
                <a:solidFill>
                  <a:srgbClr val="172B3A"/>
                </a:solidFill>
                <a:latin typeface="Arial"/>
                <a:ea typeface="Arial"/>
                <a:cs typeface="Arial"/>
              </a:rPr>
              <a:t>PatientSymptoms</a:t>
            </a:r>
          </a:p>
        </p:txBody>
      </p:sp>
      <p:sp>
        <p:nvSpPr>
          <p:cNvPr id="3" name="">
            <a:extLst xmlns:a="http://schemas.openxmlformats.org/drawingml/2006/main">
              <a:ext uri="{FF2B5EF4-FFF2-40B4-BE49-F238E27FC236}">
                <a16:creationId xmlns:a16="http://schemas.microsoft.com/office/drawing/2014/main" id="{7672FC29-11F6-4923-90CA-628F2546F08D}"/>
              </a:ext>
            </a:extLst>
          </p:cNvPr>
          <p:cNvSpPr>
            <a:spLocks xmlns:a="http://schemas.openxmlformats.org/drawingml/2006/main" noGrp="1"/>
          </p:cNvSpPr>
          <p:nvPr/>
        </p:nvSpPr>
        <p:spPr>
          <a:xfrm xmlns:a="http://schemas.openxmlformats.org/drawingml/2006/main">
            <a:off x="7239000" y="1809750"/>
            <a:ext cx="42862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778D9F"/>
            </a:solidFill>
          </a:ln>
        </p:spPr>
        <p:txBody>
          <a:bodyPr xmlns:a="http://schemas.openxmlformats.org/drawingml/2006/main" anchor="ctr">
            <a:noAutofit/>
          </a:bodyPr>
          <a:lstStyle xmlns:a="http://schemas.openxmlformats.org/drawingml/2006/main"/>
          <a:p xmlns:a="http://schemas.openxmlformats.org/drawingml/2006/main">
            <a:pPr algn="ctr">
              <a:defRPr sz="2325">
                <a:solidFill>
                  <a:srgbClr val="172B3A"/>
                </a:solidFill>
                <a:latin typeface="Arial"/>
                <a:ea typeface="Arial"/>
                <a:cs typeface="Arial"/>
              </a:defRPr>
            </a:pPr>
            <a:r>
              <a:rPr sz="2325">
                <a:solidFill>
                  <a:srgbClr val="172B3A"/>
                </a:solidFill>
                <a:latin typeface="Arial"/>
                <a:ea typeface="Arial"/>
                <a:cs typeface="Arial"/>
              </a:rPr>
              <a:t>R1–R5</a:t>
            </a:r>
          </a:p>
          <a:p xmlns:a="http://schemas.openxmlformats.org/drawingml/2006/main">
            <a:pPr algn="ctr">
              <a:defRPr sz="2325">
                <a:solidFill>
                  <a:srgbClr val="172B3A"/>
                </a:solidFill>
                <a:latin typeface="Arial"/>
                <a:ea typeface="Arial"/>
                <a:cs typeface="Arial"/>
              </a:defRPr>
            </a:pPr>
            <a:r>
              <a:rPr sz="2325">
                <a:solidFill>
                  <a:srgbClr val="172B3A"/>
                </a:solidFill>
                <a:latin typeface="Arial"/>
                <a:ea typeface="Arial"/>
                <a:cs typeface="Arial"/>
              </a:rPr>
              <a:t>Hypothesis и WarningSign</a:t>
            </a:r>
          </a:p>
        </p:txBody>
      </p:sp>
      <p:sp>
        <p:nvSpPr>
          <p:cNvPr id="4" name="">
            <a:extLst xmlns:a="http://schemas.openxmlformats.org/drawingml/2006/main">
              <a:ext uri="{FF2B5EF4-FFF2-40B4-BE49-F238E27FC236}">
                <a16:creationId xmlns:a16="http://schemas.microsoft.com/office/drawing/2014/main" id="{8C661375-C60A-4E78-A795-FC2DE0813875}"/>
              </a:ext>
            </a:extLst>
          </p:cNvPr>
          <p:cNvSpPr>
            <a:spLocks xmlns:a="http://schemas.openxmlformats.org/drawingml/2006/main" noGrp="1"/>
          </p:cNvSpPr>
          <p:nvPr/>
        </p:nvSpPr>
        <p:spPr>
          <a:xfrm xmlns:a="http://schemas.openxmlformats.org/drawingml/2006/main">
            <a:off x="7239000" y="3905250"/>
            <a:ext cx="42862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778D9F"/>
            </a:solidFill>
          </a:ln>
        </p:spPr>
        <p:txBody>
          <a:bodyPr xmlns:a="http://schemas.openxmlformats.org/drawingml/2006/main" anchor="ctr">
            <a:noAutofit/>
          </a:bodyPr>
          <a:lstStyle xmlns:a="http://schemas.openxmlformats.org/drawingml/2006/main"/>
          <a:p xmlns:a="http://schemas.openxmlformats.org/drawingml/2006/main">
            <a:pPr algn="ctr">
              <a:defRPr sz="2325">
                <a:solidFill>
                  <a:srgbClr val="172B3A"/>
                </a:solidFill>
                <a:latin typeface="Arial"/>
                <a:ea typeface="Arial"/>
                <a:cs typeface="Arial"/>
              </a:defRPr>
            </a:pPr>
            <a:r>
              <a:rPr sz="2325">
                <a:solidFill>
                  <a:srgbClr val="172B3A"/>
                </a:solidFill>
                <a:latin typeface="Arial"/>
                <a:ea typeface="Arial"/>
                <a:cs typeface="Arial"/>
              </a:rPr>
              <a:t>R6–R7</a:t>
            </a:r>
          </a:p>
          <a:p xmlns:a="http://schemas.openxmlformats.org/drawingml/2006/main">
            <a:pPr algn="ctr">
              <a:defRPr sz="2325">
                <a:solidFill>
                  <a:srgbClr val="172B3A"/>
                </a:solidFill>
                <a:latin typeface="Arial"/>
                <a:ea typeface="Arial"/>
                <a:cs typeface="Arial"/>
              </a:defRPr>
            </a:pPr>
            <a:r>
              <a:rPr sz="2325">
                <a:solidFill>
                  <a:srgbClr val="172B3A"/>
                </a:solidFill>
                <a:latin typeface="Arial"/>
                <a:ea typeface="Arial"/>
                <a:cs typeface="Arial"/>
              </a:rPr>
              <a:t>Decision</a:t>
            </a:r>
          </a:p>
        </p:txBody>
      </p:sp>
      <p:sp>
        <p:nvSpPr>
          <p:cNvPr id="5" name="">
            <a:extLst xmlns:a="http://schemas.openxmlformats.org/drawingml/2006/main">
              <a:ext uri="{FF2B5EF4-FFF2-40B4-BE49-F238E27FC236}">
                <a16:creationId xmlns:a16="http://schemas.microsoft.com/office/drawing/2014/main" id="{CF5A620C-7907-48E0-8657-AF21E19A46EC}"/>
              </a:ext>
            </a:extLst>
          </p:cNvPr>
          <p:cNvSpPr>
            <a:spLocks xmlns:a="http://schemas.openxmlformats.org/drawingml/2006/main" noGrp="1"/>
          </p:cNvSpPr>
          <p:nvPr/>
        </p:nvSpPr>
        <p:spPr>
          <a:xfrm xmlns:a="http://schemas.openxmlformats.org/drawingml/2006/main">
            <a:off x="666750" y="3905250"/>
            <a:ext cx="42862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778D9F"/>
            </a:solidFill>
          </a:ln>
        </p:spPr>
        <p:txBody>
          <a:bodyPr xmlns:a="http://schemas.openxmlformats.org/drawingml/2006/main" anchor="ctr">
            <a:noAutofit/>
          </a:bodyPr>
          <a:lstStyle xmlns:a="http://schemas.openxmlformats.org/drawingml/2006/main"/>
          <a:p xmlns:a="http://schemas.openxmlformats.org/drawingml/2006/main">
            <a:pPr algn="ctr">
              <a:defRPr sz="2325">
                <a:solidFill>
                  <a:srgbClr val="172B3A"/>
                </a:solidFill>
                <a:latin typeface="Arial"/>
                <a:ea typeface="Arial"/>
                <a:cs typeface="Arial"/>
              </a:defRPr>
            </a:pPr>
            <a:r>
              <a:rPr sz="2325">
                <a:solidFill>
                  <a:srgbClr val="172B3A"/>
                </a:solidFill>
                <a:latin typeface="Arial"/>
                <a:ea typeface="Arial"/>
                <a:cs typeface="Arial"/>
              </a:rPr>
              <a:t>Вывод</a:t>
            </a:r>
          </a:p>
          <a:p xmlns:a="http://schemas.openxmlformats.org/drawingml/2006/main">
            <a:pPr algn="ctr">
              <a:defRPr sz="2325">
                <a:solidFill>
                  <a:srgbClr val="172B3A"/>
                </a:solidFill>
                <a:latin typeface="Arial"/>
                <a:ea typeface="Arial"/>
                <a:cs typeface="Arial"/>
              </a:defRPr>
            </a:pPr>
            <a:r>
              <a:rPr sz="2325">
                <a:solidFill>
                  <a:srgbClr val="172B3A"/>
                </a:solidFill>
                <a:latin typeface="Arial"/>
                <a:ea typeface="Arial"/>
                <a:cs typeface="Arial"/>
              </a:rPr>
              <a:t>История правил</a:t>
            </a:r>
          </a:p>
        </p:txBody>
      </p:sp>
      <p:cxnSp>
        <p:nvCxnSpPr>
          <p:cNvPr id="15" name=""/>
          <p:cNvCxnSpPr>
            <a:stCxn xmlns:a="http://schemas.openxmlformats.org/drawingml/2006/main" id="2" idx="3"/>
            <a:endCxn xmlns:a="http://schemas.openxmlformats.org/drawingml/2006/main" id="3" idx="1"/>
          </p:cNvCxnSpPr>
          <p:nvPr/>
        </p:nvCxnSpPr>
        <p:spPr>
          <a:xfrm xmlns:a="http://schemas.openxmlformats.org/drawingml/2006/main">
            <a:off x="4953000" y="2309813"/>
            <a:ext cx="2286000" cy="0"/>
          </a:xfrm>
          <a:prstGeom xmlns:a="http://schemas.openxmlformats.org/drawingml/2006/main" prst="straightConnector1">
            <a:avLst/>
          </a:prstGeom>
          <a:ln xmlns:a="http://schemas.openxmlformats.org/drawingml/2006/main" w="19050">
            <a:solidFill>
              <a:srgbClr val="315C7A"/>
            </a:solidFill>
            <a:tailEnd type="arrow" w="med" len="med"/>
          </a:ln>
        </p:spPr>
      </p:cxnSp>
      <p:cxnSp>
        <p:nvCxnSpPr>
          <p:cNvPr id="16" name=""/>
          <p:cNvCxnSpPr>
            <a:stCxn xmlns:a="http://schemas.openxmlformats.org/drawingml/2006/main" id="3" idx="2"/>
            <a:endCxn xmlns:a="http://schemas.openxmlformats.org/drawingml/2006/main" id="4" idx="0"/>
          </p:cNvCxnSpPr>
          <p:nvPr/>
        </p:nvCxnSpPr>
        <p:spPr>
          <a:xfrm xmlns:a="http://schemas.openxmlformats.org/drawingml/2006/main">
            <a:off x="9382125" y="2809875"/>
            <a:ext cx="0" cy="1095375"/>
          </a:xfrm>
          <a:prstGeom xmlns:a="http://schemas.openxmlformats.org/drawingml/2006/main" prst="straightConnector1">
            <a:avLst/>
          </a:prstGeom>
          <a:ln xmlns:a="http://schemas.openxmlformats.org/drawingml/2006/main" w="19050">
            <a:solidFill>
              <a:srgbClr val="315C7A"/>
            </a:solidFill>
            <a:tailEnd type="arrow" w="med" len="med"/>
          </a:ln>
        </p:spPr>
      </p:cxnSp>
      <p:cxnSp>
        <p:nvCxnSpPr>
          <p:cNvPr id="17" name=""/>
          <p:cNvCxnSpPr>
            <a:stCxn xmlns:a="http://schemas.openxmlformats.org/drawingml/2006/main" id="4" idx="1"/>
            <a:endCxn xmlns:a="http://schemas.openxmlformats.org/drawingml/2006/main" id="5" idx="3"/>
          </p:cNvCxnSpPr>
          <p:nvPr/>
        </p:nvCxnSpPr>
        <p:spPr>
          <a:xfrm xmlns:a="http://schemas.openxmlformats.org/drawingml/2006/main" flipH="1">
            <a:off x="4953000" y="4405313"/>
            <a:ext cx="2286000" cy="0"/>
          </a:xfrm>
          <a:prstGeom xmlns:a="http://schemas.openxmlformats.org/drawingml/2006/main" prst="straightConnector1">
            <a:avLst/>
          </a:prstGeom>
          <a:ln xmlns:a="http://schemas.openxmlformats.org/drawingml/2006/main" w="19050">
            <a:solidFill>
              <a:srgbClr val="315C7A"/>
            </a:solidFill>
            <a:tailEnd type="arrow" w="med" len="med"/>
          </a:ln>
        </p:spPr>
      </p:cxnSp>
      <p:sp>
        <p:nvSpPr>
          <p:cNvPr id="9" name="">
            <a:extLst xmlns:a="http://schemas.openxmlformats.org/drawingml/2006/main">
              <a:ext uri="{FF2B5EF4-FFF2-40B4-BE49-F238E27FC236}">
                <a16:creationId xmlns:a16="http://schemas.microsoft.com/office/drawing/2014/main" id="{D95BC913-8167-4369-80F5-415A68FC7CD4}"/>
              </a:ext>
            </a:extLst>
          </p:cNvPr>
          <p:cNvSpPr>
            <a:spLocks xmlns:a="http://schemas.openxmlformats.org/drawingml/2006/main" noGrp="1"/>
          </p:cNvSpPr>
          <p:nvPr/>
        </p:nvSpPr>
        <p:spPr>
          <a:xfrm xmlns:a="http://schemas.openxmlformats.org/drawingml/2006/main">
            <a:off x="666750" y="5429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72B3A"/>
                </a:solidFill>
                <a:latin typeface="Arial"/>
                <a:ea typeface="Arial"/>
                <a:cs typeface="Arial"/>
              </a:defRPr>
            </a:pPr>
            <a:r>
              <a:rPr sz="2100" b="0">
                <a:solidFill>
                  <a:srgbClr val="172B3A"/>
                </a:solidFill>
                <a:latin typeface="Arial"/>
                <a:ea typeface="Arial"/>
                <a:cs typeface="Arial"/>
              </a:rPr>
              <a:t>KnowledgeEngine хранит факты и выполняет правила.</a:t>
            </a:r>
          </a:p>
          <a:p xmlns:a="http://schemas.openxmlformats.org/drawingml/2006/main">
            <a:pPr>
              <a:defRPr sz="2100" b="0">
                <a:solidFill>
                  <a:srgbClr val="172B3A"/>
                </a:solidFill>
                <a:latin typeface="Arial"/>
                <a:ea typeface="Arial"/>
                <a:cs typeface="Arial"/>
              </a:defRPr>
            </a:pPr>
            <a:r>
              <a:rPr sz="2100" b="0">
                <a:solidFill>
                  <a:srgbClr val="172B3A"/>
                </a:solidFill>
                <a:latin typeface="Arial"/>
                <a:ea typeface="Arial"/>
                <a:cs typeface="Arial"/>
              </a:rPr>
              <a:t>ColdExpertSystem содержит правила предметной области.</a:t>
            </a:r>
          </a:p>
        </p:txBody>
      </p:sp>
    </p:spTree>
    <p:extLst>
      <p:ext uri="{BB962C8B-B14F-4D97-AF65-F5344CB8AC3E}">
        <p14:creationId xmlns:p14="http://schemas.microsoft.com/office/powerpoint/2010/main" val="93769886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9C9E2B2-53B1-416D-8797-3988637F2663}"/>
              </a:ext>
            </a:extLst>
          </p:cNvPr>
          <p:cNvSpPr>
            <a:spLocks xmlns:a="http://schemas.openxmlformats.org/drawingml/2006/main" noGrp="1"/>
          </p:cNvSpPr>
          <p:nvPr/>
        </p:nvSpPr>
        <p:spPr>
          <a:xfrm xmlns:a="http://schemas.openxmlformats.org/drawingml/2006/main">
            <a:off x="609600" y="361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Дерево итогового решения</a:t>
            </a:r>
          </a:p>
        </p:txBody>
      </p:sp>
      <p:sp>
        <p:nvSpPr>
          <p:cNvPr id="2" name="">
            <a:extLst xmlns:a="http://schemas.openxmlformats.org/drawingml/2006/main">
              <a:ext uri="{FF2B5EF4-FFF2-40B4-BE49-F238E27FC236}">
                <a16:creationId xmlns:a16="http://schemas.microsoft.com/office/drawing/2014/main" id="{8C1A124B-1DCD-48EB-8C7F-EF1B697384C3}"/>
              </a:ext>
            </a:extLst>
          </p:cNvPr>
          <p:cNvSpPr>
            <a:spLocks xmlns:a="http://schemas.openxmlformats.org/drawingml/2006/main" noGrp="1"/>
          </p:cNvSpPr>
          <p:nvPr/>
        </p:nvSpPr>
        <p:spPr>
          <a:xfrm xmlns:a="http://schemas.openxmlformats.org/drawingml/2006/main">
            <a:off x="609600" y="1476375"/>
            <a:ext cx="5619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778D9F"/>
            </a:solidFill>
          </a:ln>
        </p:spPr>
        <p:txBody>
          <a:bodyPr xmlns:a="http://schemas.openxmlformats.org/drawingml/2006/main" anchor="ctr">
            <a:noAutofit/>
          </a:bodyPr>
          <a:lstStyle xmlns:a="http://schemas.openxmlformats.org/drawingml/2006/main"/>
          <a:p xmlns:a="http://schemas.openxmlformats.org/drawingml/2006/main">
            <a:pPr algn="ctr">
              <a:defRPr sz="2100">
                <a:solidFill>
                  <a:srgbClr val="172B3A"/>
                </a:solidFill>
                <a:latin typeface="Arial"/>
                <a:ea typeface="Arial"/>
                <a:cs typeface="Arial"/>
              </a:defRPr>
            </a:pPr>
            <a:r>
              <a:rPr sz="2100">
                <a:solidFill>
                  <a:srgbClr val="172B3A"/>
                </a:solidFill>
                <a:latin typeface="Arial"/>
                <a:ea typeface="Arial"/>
                <a:cs typeface="Arial"/>
              </a:rPr>
              <a:t>Есть предупреждение о дыхании?</a:t>
            </a:r>
          </a:p>
        </p:txBody>
      </p:sp>
      <p:sp>
        <p:nvSpPr>
          <p:cNvPr id="3" name="">
            <a:extLst xmlns:a="http://schemas.openxmlformats.org/drawingml/2006/main">
              <a:ext uri="{FF2B5EF4-FFF2-40B4-BE49-F238E27FC236}">
                <a16:creationId xmlns:a16="http://schemas.microsoft.com/office/drawing/2014/main" id="{702806E2-7226-41D5-8C4F-C85432D34C7B}"/>
              </a:ext>
            </a:extLst>
          </p:cNvPr>
          <p:cNvSpPr>
            <a:spLocks xmlns:a="http://schemas.openxmlformats.org/drawingml/2006/main" noGrp="1"/>
          </p:cNvSpPr>
          <p:nvPr/>
        </p:nvSpPr>
        <p:spPr>
          <a:xfrm xmlns:a="http://schemas.openxmlformats.org/drawingml/2006/main">
            <a:off x="7858125" y="1476375"/>
            <a:ext cx="3714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778D9F"/>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72B3A"/>
                </a:solidFill>
                <a:latin typeface="Arial"/>
                <a:ea typeface="Arial"/>
                <a:cs typeface="Arial"/>
              </a:defRPr>
            </a:pPr>
            <a:r>
              <a:rPr sz="2025">
                <a:solidFill>
                  <a:srgbClr val="172B3A"/>
                </a:solidFill>
                <a:latin typeface="Arial"/>
                <a:ea typeface="Arial"/>
                <a:cs typeface="Arial"/>
              </a:rPr>
              <a:t>Срочная медицинская оценка</a:t>
            </a:r>
          </a:p>
        </p:txBody>
      </p:sp>
      <p:cxnSp>
        <p:nvCxnSpPr>
          <p:cNvPr id="24" name=""/>
          <p:cNvCxnSpPr>
            <a:stCxn xmlns:a="http://schemas.openxmlformats.org/drawingml/2006/main" id="2" idx="3"/>
            <a:endCxn xmlns:a="http://schemas.openxmlformats.org/drawingml/2006/main" id="3" idx="1"/>
          </p:cNvCxnSpPr>
          <p:nvPr/>
        </p:nvCxnSpPr>
        <p:spPr>
          <a:xfrm xmlns:a="http://schemas.openxmlformats.org/drawingml/2006/main">
            <a:off x="6229350" y="1847850"/>
            <a:ext cx="1628775" cy="0"/>
          </a:xfrm>
          <a:prstGeom xmlns:a="http://schemas.openxmlformats.org/drawingml/2006/main" prst="straightConnector1">
            <a:avLst/>
          </a:prstGeom>
          <a:ln xmlns:a="http://schemas.openxmlformats.org/drawingml/2006/main" w="19050">
            <a:solidFill>
              <a:srgbClr val="315C7A"/>
            </a:solidFill>
            <a:tailEnd type="arrow" w="med" len="med"/>
          </a:ln>
        </p:spPr>
      </p:cxnSp>
      <p:sp>
        <p:nvSpPr>
          <p:cNvPr id="5" name="">
            <a:extLst xmlns:a="http://schemas.openxmlformats.org/drawingml/2006/main">
              <a:ext uri="{FF2B5EF4-FFF2-40B4-BE49-F238E27FC236}">
                <a16:creationId xmlns:a16="http://schemas.microsoft.com/office/drawing/2014/main" id="{35D16225-3B0C-44E8-A087-B3F9A47133BC}"/>
              </a:ext>
            </a:extLst>
          </p:cNvPr>
          <p:cNvSpPr>
            <a:spLocks xmlns:a="http://schemas.openxmlformats.org/drawingml/2006/main" noGrp="1"/>
          </p:cNvSpPr>
          <p:nvPr/>
        </p:nvSpPr>
        <p:spPr>
          <a:xfrm xmlns:a="http://schemas.openxmlformats.org/drawingml/2006/main">
            <a:off x="6705600" y="15335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72B3A"/>
                </a:solidFill>
                <a:latin typeface="Arial"/>
                <a:ea typeface="Arial"/>
                <a:cs typeface="Arial"/>
              </a:defRPr>
            </a:pPr>
            <a:r>
              <a:rPr sz="1875" b="0">
                <a:solidFill>
                  <a:srgbClr val="172B3A"/>
                </a:solidFill>
                <a:latin typeface="Arial"/>
                <a:ea typeface="Arial"/>
                <a:cs typeface="Arial"/>
              </a:rPr>
              <a:t>Да</a:t>
            </a:r>
          </a:p>
        </p:txBody>
      </p:sp>
      <p:sp>
        <p:nvSpPr>
          <p:cNvPr id="6" name="">
            <a:extLst xmlns:a="http://schemas.openxmlformats.org/drawingml/2006/main">
              <a:ext uri="{FF2B5EF4-FFF2-40B4-BE49-F238E27FC236}">
                <a16:creationId xmlns:a16="http://schemas.microsoft.com/office/drawing/2014/main" id="{70762CC4-032D-4E0E-916E-8AB34375AC22}"/>
              </a:ext>
            </a:extLst>
          </p:cNvPr>
          <p:cNvSpPr>
            <a:spLocks xmlns:a="http://schemas.openxmlformats.org/drawingml/2006/main" noGrp="1"/>
          </p:cNvSpPr>
          <p:nvPr/>
        </p:nvSpPr>
        <p:spPr>
          <a:xfrm xmlns:a="http://schemas.openxmlformats.org/drawingml/2006/main">
            <a:off x="609600" y="2857500"/>
            <a:ext cx="5619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778D9F"/>
            </a:solidFill>
          </a:ln>
        </p:spPr>
        <p:txBody>
          <a:bodyPr xmlns:a="http://schemas.openxmlformats.org/drawingml/2006/main" anchor="ctr">
            <a:noAutofit/>
          </a:bodyPr>
          <a:lstStyle xmlns:a="http://schemas.openxmlformats.org/drawingml/2006/main"/>
          <a:p xmlns:a="http://schemas.openxmlformats.org/drawingml/2006/main">
            <a:pPr algn="ctr">
              <a:defRPr sz="2100">
                <a:solidFill>
                  <a:srgbClr val="172B3A"/>
                </a:solidFill>
                <a:latin typeface="Arial"/>
                <a:ea typeface="Arial"/>
                <a:cs typeface="Arial"/>
              </a:defRPr>
            </a:pPr>
            <a:r>
              <a:rPr sz="2100">
                <a:solidFill>
                  <a:srgbClr val="172B3A"/>
                </a:solidFill>
                <a:latin typeface="Arial"/>
                <a:ea typeface="Arial"/>
                <a:cs typeface="Arial"/>
              </a:rPr>
              <a:t>Есть другое предупреждение?</a:t>
            </a:r>
          </a:p>
        </p:txBody>
      </p:sp>
      <p:sp>
        <p:nvSpPr>
          <p:cNvPr id="7" name="">
            <a:extLst xmlns:a="http://schemas.openxmlformats.org/drawingml/2006/main">
              <a:ext uri="{FF2B5EF4-FFF2-40B4-BE49-F238E27FC236}">
                <a16:creationId xmlns:a16="http://schemas.microsoft.com/office/drawing/2014/main" id="{FB6BFACD-484C-444B-8A6D-688C7B5A1A5F}"/>
              </a:ext>
            </a:extLst>
          </p:cNvPr>
          <p:cNvSpPr>
            <a:spLocks xmlns:a="http://schemas.openxmlformats.org/drawingml/2006/main" noGrp="1"/>
          </p:cNvSpPr>
          <p:nvPr/>
        </p:nvSpPr>
        <p:spPr>
          <a:xfrm xmlns:a="http://schemas.openxmlformats.org/drawingml/2006/main">
            <a:off x="7858125" y="2857500"/>
            <a:ext cx="3714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778D9F"/>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72B3A"/>
                </a:solidFill>
                <a:latin typeface="Arial"/>
                <a:ea typeface="Arial"/>
                <a:cs typeface="Arial"/>
              </a:defRPr>
            </a:pPr>
            <a:r>
              <a:rPr sz="2025">
                <a:solidFill>
                  <a:srgbClr val="172B3A"/>
                </a:solidFill>
                <a:latin typeface="Arial"/>
                <a:ea typeface="Arial"/>
                <a:cs typeface="Arial"/>
              </a:rPr>
              <a:t>Консультация с учётом предупреждения</a:t>
            </a:r>
          </a:p>
        </p:txBody>
      </p:sp>
      <p:cxnSp>
        <p:nvCxnSpPr>
          <p:cNvPr id="28" name=""/>
          <p:cNvCxnSpPr>
            <a:stCxn xmlns:a="http://schemas.openxmlformats.org/drawingml/2006/main" id="6" idx="3"/>
            <a:endCxn xmlns:a="http://schemas.openxmlformats.org/drawingml/2006/main" id="7" idx="1"/>
          </p:cNvCxnSpPr>
          <p:nvPr/>
        </p:nvCxnSpPr>
        <p:spPr>
          <a:xfrm xmlns:a="http://schemas.openxmlformats.org/drawingml/2006/main">
            <a:off x="6229350" y="3228975"/>
            <a:ext cx="1628775" cy="0"/>
          </a:xfrm>
          <a:prstGeom xmlns:a="http://schemas.openxmlformats.org/drawingml/2006/main" prst="straightConnector1">
            <a:avLst/>
          </a:prstGeom>
          <a:ln xmlns:a="http://schemas.openxmlformats.org/drawingml/2006/main" w="19050">
            <a:solidFill>
              <a:srgbClr val="315C7A"/>
            </a:solidFill>
            <a:tailEnd type="arrow" w="med" len="med"/>
          </a:ln>
        </p:spPr>
      </p:cxnSp>
      <p:sp>
        <p:nvSpPr>
          <p:cNvPr id="9" name="">
            <a:extLst xmlns:a="http://schemas.openxmlformats.org/drawingml/2006/main">
              <a:ext uri="{FF2B5EF4-FFF2-40B4-BE49-F238E27FC236}">
                <a16:creationId xmlns:a16="http://schemas.microsoft.com/office/drawing/2014/main" id="{3B78DAE1-B2D2-4E11-8949-17CECC3EF7BB}"/>
              </a:ext>
            </a:extLst>
          </p:cNvPr>
          <p:cNvSpPr>
            <a:spLocks xmlns:a="http://schemas.openxmlformats.org/drawingml/2006/main" noGrp="1"/>
          </p:cNvSpPr>
          <p:nvPr/>
        </p:nvSpPr>
        <p:spPr>
          <a:xfrm xmlns:a="http://schemas.openxmlformats.org/drawingml/2006/main">
            <a:off x="6705600" y="2914650"/>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72B3A"/>
                </a:solidFill>
                <a:latin typeface="Arial"/>
                <a:ea typeface="Arial"/>
                <a:cs typeface="Arial"/>
              </a:defRPr>
            </a:pPr>
            <a:r>
              <a:rPr sz="1875" b="0">
                <a:solidFill>
                  <a:srgbClr val="172B3A"/>
                </a:solidFill>
                <a:latin typeface="Arial"/>
                <a:ea typeface="Arial"/>
                <a:cs typeface="Arial"/>
              </a:rPr>
              <a:t>Да</a:t>
            </a:r>
          </a:p>
        </p:txBody>
      </p:sp>
      <p:cxnSp>
        <p:nvCxnSpPr>
          <p:cNvPr id="30" name=""/>
          <p:cNvCxnSpPr>
            <a:stCxn xmlns:a="http://schemas.openxmlformats.org/drawingml/2006/main" id="2" idx="2"/>
            <a:endCxn xmlns:a="http://schemas.openxmlformats.org/drawingml/2006/main" id="6" idx="0"/>
          </p:cNvCxnSpPr>
          <p:nvPr/>
        </p:nvCxnSpPr>
        <p:spPr>
          <a:xfrm xmlns:a="http://schemas.openxmlformats.org/drawingml/2006/main">
            <a:off x="3419475" y="2219325"/>
            <a:ext cx="0" cy="638175"/>
          </a:xfrm>
          <a:prstGeom xmlns:a="http://schemas.openxmlformats.org/drawingml/2006/main" prst="straightConnector1">
            <a:avLst/>
          </a:prstGeom>
          <a:ln xmlns:a="http://schemas.openxmlformats.org/drawingml/2006/main" w="19050">
            <a:solidFill>
              <a:srgbClr val="315C7A"/>
            </a:solidFill>
            <a:tailEnd type="arrow" w="med" len="med"/>
          </a:ln>
        </p:spPr>
      </p:cxnSp>
      <p:sp>
        <p:nvSpPr>
          <p:cNvPr id="11" name="">
            <a:extLst xmlns:a="http://schemas.openxmlformats.org/drawingml/2006/main">
              <a:ext uri="{FF2B5EF4-FFF2-40B4-BE49-F238E27FC236}">
                <a16:creationId xmlns:a16="http://schemas.microsoft.com/office/drawing/2014/main" id="{4E1DD4B2-02F6-40A9-86F0-297D9AC56CD0}"/>
              </a:ext>
            </a:extLst>
          </p:cNvPr>
          <p:cNvSpPr>
            <a:spLocks xmlns:a="http://schemas.openxmlformats.org/drawingml/2006/main" noGrp="1"/>
          </p:cNvSpPr>
          <p:nvPr/>
        </p:nvSpPr>
        <p:spPr>
          <a:xfrm xmlns:a="http://schemas.openxmlformats.org/drawingml/2006/main">
            <a:off x="3571875" y="2390775"/>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72B3A"/>
                </a:solidFill>
                <a:latin typeface="Arial"/>
                <a:ea typeface="Arial"/>
                <a:cs typeface="Arial"/>
              </a:defRPr>
            </a:pPr>
            <a:r>
              <a:rPr sz="1800" b="0">
                <a:solidFill>
                  <a:srgbClr val="172B3A"/>
                </a:solidFill>
                <a:latin typeface="Arial"/>
                <a:ea typeface="Arial"/>
                <a:cs typeface="Arial"/>
              </a:rPr>
              <a:t>Нет</a:t>
            </a:r>
          </a:p>
        </p:txBody>
      </p:sp>
      <p:sp>
        <p:nvSpPr>
          <p:cNvPr id="12" name="">
            <a:extLst xmlns:a="http://schemas.openxmlformats.org/drawingml/2006/main">
              <a:ext uri="{FF2B5EF4-FFF2-40B4-BE49-F238E27FC236}">
                <a16:creationId xmlns:a16="http://schemas.microsoft.com/office/drawing/2014/main" id="{9EB327FC-744C-441F-A43B-F4C7AEDCDBD3}"/>
              </a:ext>
            </a:extLst>
          </p:cNvPr>
          <p:cNvSpPr>
            <a:spLocks xmlns:a="http://schemas.openxmlformats.org/drawingml/2006/main" noGrp="1"/>
          </p:cNvSpPr>
          <p:nvPr/>
        </p:nvSpPr>
        <p:spPr>
          <a:xfrm xmlns:a="http://schemas.openxmlformats.org/drawingml/2006/main">
            <a:off x="609600" y="4238625"/>
            <a:ext cx="5619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778D9F"/>
            </a:solidFill>
          </a:ln>
        </p:spPr>
        <p:txBody>
          <a:bodyPr xmlns:a="http://schemas.openxmlformats.org/drawingml/2006/main" anchor="ctr">
            <a:noAutofit/>
          </a:bodyPr>
          <a:lstStyle xmlns:a="http://schemas.openxmlformats.org/drawingml/2006/main"/>
          <a:p xmlns:a="http://schemas.openxmlformats.org/drawingml/2006/main">
            <a:pPr algn="ctr">
              <a:defRPr sz="2100">
                <a:solidFill>
                  <a:srgbClr val="172B3A"/>
                </a:solidFill>
                <a:latin typeface="Arial"/>
                <a:ea typeface="Arial"/>
                <a:cs typeface="Arial"/>
              </a:defRPr>
            </a:pPr>
            <a:r>
              <a:rPr sz="2100">
                <a:solidFill>
                  <a:srgbClr val="172B3A"/>
                </a:solidFill>
                <a:latin typeface="Arial"/>
                <a:ea typeface="Arial"/>
                <a:cs typeface="Arial"/>
              </a:rPr>
              <a:t>Есть гипотеза?</a:t>
            </a:r>
          </a:p>
        </p:txBody>
      </p:sp>
      <p:sp>
        <p:nvSpPr>
          <p:cNvPr id="13" name="">
            <a:extLst xmlns:a="http://schemas.openxmlformats.org/drawingml/2006/main">
              <a:ext uri="{FF2B5EF4-FFF2-40B4-BE49-F238E27FC236}">
                <a16:creationId xmlns:a16="http://schemas.microsoft.com/office/drawing/2014/main" id="{3F1930D8-083F-464F-A97E-18B458B0EF7C}"/>
              </a:ext>
            </a:extLst>
          </p:cNvPr>
          <p:cNvSpPr>
            <a:spLocks xmlns:a="http://schemas.openxmlformats.org/drawingml/2006/main" noGrp="1"/>
          </p:cNvSpPr>
          <p:nvPr/>
        </p:nvSpPr>
        <p:spPr>
          <a:xfrm xmlns:a="http://schemas.openxmlformats.org/drawingml/2006/main">
            <a:off x="7858125" y="4238625"/>
            <a:ext cx="3714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778D9F"/>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72B3A"/>
                </a:solidFill>
                <a:latin typeface="Arial"/>
                <a:ea typeface="Arial"/>
                <a:cs typeface="Arial"/>
              </a:defRPr>
            </a:pPr>
            <a:r>
              <a:rPr sz="2025">
                <a:solidFill>
                  <a:srgbClr val="172B3A"/>
                </a:solidFill>
                <a:latin typeface="Arial"/>
                <a:ea typeface="Arial"/>
                <a:cs typeface="Arial"/>
              </a:rPr>
              <a:t>Вывод учебной гипотезы</a:t>
            </a:r>
          </a:p>
        </p:txBody>
      </p:sp>
      <p:cxnSp>
        <p:nvCxnSpPr>
          <p:cNvPr id="34" name=""/>
          <p:cNvCxnSpPr>
            <a:stCxn xmlns:a="http://schemas.openxmlformats.org/drawingml/2006/main" id="12" idx="3"/>
            <a:endCxn xmlns:a="http://schemas.openxmlformats.org/drawingml/2006/main" id="13" idx="1"/>
          </p:cNvCxnSpPr>
          <p:nvPr/>
        </p:nvCxnSpPr>
        <p:spPr>
          <a:xfrm xmlns:a="http://schemas.openxmlformats.org/drawingml/2006/main">
            <a:off x="6229350" y="4610100"/>
            <a:ext cx="1628775" cy="0"/>
          </a:xfrm>
          <a:prstGeom xmlns:a="http://schemas.openxmlformats.org/drawingml/2006/main" prst="straightConnector1">
            <a:avLst/>
          </a:prstGeom>
          <a:ln xmlns:a="http://schemas.openxmlformats.org/drawingml/2006/main" w="19050">
            <a:solidFill>
              <a:srgbClr val="315C7A"/>
            </a:solidFill>
            <a:tailEnd type="arrow" w="med" len="med"/>
          </a:ln>
        </p:spPr>
      </p:cxnSp>
      <p:sp>
        <p:nvSpPr>
          <p:cNvPr id="15" name="">
            <a:extLst xmlns:a="http://schemas.openxmlformats.org/drawingml/2006/main">
              <a:ext uri="{FF2B5EF4-FFF2-40B4-BE49-F238E27FC236}">
                <a16:creationId xmlns:a16="http://schemas.microsoft.com/office/drawing/2014/main" id="{AF5C4EBC-7CFD-40DC-9DFD-757109075955}"/>
              </a:ext>
            </a:extLst>
          </p:cNvPr>
          <p:cNvSpPr>
            <a:spLocks xmlns:a="http://schemas.openxmlformats.org/drawingml/2006/main" noGrp="1"/>
          </p:cNvSpPr>
          <p:nvPr/>
        </p:nvSpPr>
        <p:spPr>
          <a:xfrm xmlns:a="http://schemas.openxmlformats.org/drawingml/2006/main">
            <a:off x="6705600" y="42957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72B3A"/>
                </a:solidFill>
                <a:latin typeface="Arial"/>
                <a:ea typeface="Arial"/>
                <a:cs typeface="Arial"/>
              </a:defRPr>
            </a:pPr>
            <a:r>
              <a:rPr sz="1875" b="0">
                <a:solidFill>
                  <a:srgbClr val="172B3A"/>
                </a:solidFill>
                <a:latin typeface="Arial"/>
                <a:ea typeface="Arial"/>
                <a:cs typeface="Arial"/>
              </a:rPr>
              <a:t>Да</a:t>
            </a:r>
          </a:p>
        </p:txBody>
      </p:sp>
      <p:cxnSp>
        <p:nvCxnSpPr>
          <p:cNvPr id="36" name=""/>
          <p:cNvCxnSpPr>
            <a:stCxn xmlns:a="http://schemas.openxmlformats.org/drawingml/2006/main" id="6" idx="2"/>
            <a:endCxn xmlns:a="http://schemas.openxmlformats.org/drawingml/2006/main" id="12" idx="0"/>
          </p:cNvCxnSpPr>
          <p:nvPr/>
        </p:nvCxnSpPr>
        <p:spPr>
          <a:xfrm xmlns:a="http://schemas.openxmlformats.org/drawingml/2006/main">
            <a:off x="3419475" y="3600450"/>
            <a:ext cx="0" cy="638175"/>
          </a:xfrm>
          <a:prstGeom xmlns:a="http://schemas.openxmlformats.org/drawingml/2006/main" prst="straightConnector1">
            <a:avLst/>
          </a:prstGeom>
          <a:ln xmlns:a="http://schemas.openxmlformats.org/drawingml/2006/main" w="19050">
            <a:solidFill>
              <a:srgbClr val="315C7A"/>
            </a:solidFill>
            <a:tailEnd type="arrow" w="med" len="med"/>
          </a:ln>
        </p:spPr>
      </p:cxnSp>
      <p:sp>
        <p:nvSpPr>
          <p:cNvPr id="17" name="">
            <a:extLst xmlns:a="http://schemas.openxmlformats.org/drawingml/2006/main">
              <a:ext uri="{FF2B5EF4-FFF2-40B4-BE49-F238E27FC236}">
                <a16:creationId xmlns:a16="http://schemas.microsoft.com/office/drawing/2014/main" id="{19A0A69F-3950-4E37-B61F-555B30211C63}"/>
              </a:ext>
            </a:extLst>
          </p:cNvPr>
          <p:cNvSpPr>
            <a:spLocks xmlns:a="http://schemas.openxmlformats.org/drawingml/2006/main" noGrp="1"/>
          </p:cNvSpPr>
          <p:nvPr/>
        </p:nvSpPr>
        <p:spPr>
          <a:xfrm xmlns:a="http://schemas.openxmlformats.org/drawingml/2006/main">
            <a:off x="3571875" y="37719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72B3A"/>
                </a:solidFill>
                <a:latin typeface="Arial"/>
                <a:ea typeface="Arial"/>
                <a:cs typeface="Arial"/>
              </a:defRPr>
            </a:pPr>
            <a:r>
              <a:rPr sz="1800" b="0">
                <a:solidFill>
                  <a:srgbClr val="172B3A"/>
                </a:solidFill>
                <a:latin typeface="Arial"/>
                <a:ea typeface="Arial"/>
                <a:cs typeface="Arial"/>
              </a:rPr>
              <a:t>Нет</a:t>
            </a:r>
          </a:p>
        </p:txBody>
      </p:sp>
      <p:sp>
        <p:nvSpPr>
          <p:cNvPr id="18" name="">
            <a:extLst xmlns:a="http://schemas.openxmlformats.org/drawingml/2006/main">
              <a:ext uri="{FF2B5EF4-FFF2-40B4-BE49-F238E27FC236}">
                <a16:creationId xmlns:a16="http://schemas.microsoft.com/office/drawing/2014/main" id="{66FF628F-3EC5-4D40-8083-8EF5160BCE28}"/>
              </a:ext>
            </a:extLst>
          </p:cNvPr>
          <p:cNvSpPr>
            <a:spLocks xmlns:a="http://schemas.openxmlformats.org/drawingml/2006/main" noGrp="1"/>
          </p:cNvSpPr>
          <p:nvPr/>
        </p:nvSpPr>
        <p:spPr>
          <a:xfrm xmlns:a="http://schemas.openxmlformats.org/drawingml/2006/main">
            <a:off x="609600" y="5619750"/>
            <a:ext cx="5619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778D9F"/>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72B3A"/>
                </a:solidFill>
                <a:latin typeface="Arial"/>
                <a:ea typeface="Arial"/>
                <a:cs typeface="Arial"/>
              </a:defRPr>
            </a:pPr>
            <a:r>
              <a:rPr sz="1950">
                <a:solidFill>
                  <a:srgbClr val="172B3A"/>
                </a:solidFill>
                <a:latin typeface="Arial"/>
                <a:ea typeface="Arial"/>
                <a:cs typeface="Arial"/>
              </a:rPr>
              <a:t>Недостаточно совпадений с правилами</a:t>
            </a:r>
          </a:p>
        </p:txBody>
      </p:sp>
      <p:cxnSp>
        <p:nvCxnSpPr>
          <p:cNvPr id="39" name=""/>
          <p:cNvCxnSpPr>
            <a:stCxn xmlns:a="http://schemas.openxmlformats.org/drawingml/2006/main" id="12" idx="2"/>
            <a:endCxn xmlns:a="http://schemas.openxmlformats.org/drawingml/2006/main" id="18" idx="0"/>
          </p:cNvCxnSpPr>
          <p:nvPr/>
        </p:nvCxnSpPr>
        <p:spPr>
          <a:xfrm xmlns:a="http://schemas.openxmlformats.org/drawingml/2006/main">
            <a:off x="3419475" y="4981575"/>
            <a:ext cx="0" cy="638175"/>
          </a:xfrm>
          <a:prstGeom xmlns:a="http://schemas.openxmlformats.org/drawingml/2006/main" prst="straightConnector1">
            <a:avLst/>
          </a:prstGeom>
          <a:ln xmlns:a="http://schemas.openxmlformats.org/drawingml/2006/main" w="19050">
            <a:solidFill>
              <a:srgbClr val="315C7A"/>
            </a:solidFill>
            <a:tailEnd type="arrow" w="med" len="med"/>
          </a:ln>
        </p:spPr>
      </p:cxnSp>
      <p:sp>
        <p:nvSpPr>
          <p:cNvPr id="20" name="">
            <a:extLst xmlns:a="http://schemas.openxmlformats.org/drawingml/2006/main">
              <a:ext uri="{FF2B5EF4-FFF2-40B4-BE49-F238E27FC236}">
                <a16:creationId xmlns:a16="http://schemas.microsoft.com/office/drawing/2014/main" id="{0B385E47-868C-4822-B6EF-FAE23AA9D7D7}"/>
              </a:ext>
            </a:extLst>
          </p:cNvPr>
          <p:cNvSpPr>
            <a:spLocks xmlns:a="http://schemas.openxmlformats.org/drawingml/2006/main" noGrp="1"/>
          </p:cNvSpPr>
          <p:nvPr/>
        </p:nvSpPr>
        <p:spPr>
          <a:xfrm xmlns:a="http://schemas.openxmlformats.org/drawingml/2006/main">
            <a:off x="3571875" y="523875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72B3A"/>
                </a:solidFill>
                <a:latin typeface="Arial"/>
                <a:ea typeface="Arial"/>
                <a:cs typeface="Arial"/>
              </a:defRPr>
            </a:pPr>
            <a:r>
              <a:rPr sz="1800" b="0">
                <a:solidFill>
                  <a:srgbClr val="172B3A"/>
                </a:solidFill>
                <a:latin typeface="Arial"/>
                <a:ea typeface="Arial"/>
                <a:cs typeface="Arial"/>
              </a:rPr>
              <a:t>Нет</a:t>
            </a:r>
          </a:p>
        </p:txBody>
      </p:sp>
    </p:spTree>
    <p:extLst>
      <p:ext uri="{BB962C8B-B14F-4D97-AF65-F5344CB8AC3E}">
        <p14:creationId xmlns:p14="http://schemas.microsoft.com/office/powerpoint/2010/main" val="18728643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B52D73C-8E65-4A9C-906E-871F511FC183}"/>
              </a:ext>
            </a:extLst>
          </p:cNvPr>
          <p:cNvSpPr>
            <a:spLocks xmlns:a="http://schemas.openxmlformats.org/drawingml/2006/main" noGrp="1"/>
          </p:cNvSpPr>
          <p:nvPr/>
        </p:nvSpPr>
        <p:spPr>
          <a:xfrm xmlns:a="http://schemas.openxmlformats.org/drawingml/2006/main">
            <a:off x="609600" y="361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Сценарий с признаками ОРВИ</a:t>
            </a:r>
          </a:p>
        </p:txBody>
      </p:sp>
      <p:sp>
        <p:nvSpPr>
          <p:cNvPr id="2" name="">
            <a:extLst xmlns:a="http://schemas.openxmlformats.org/drawingml/2006/main">
              <a:ext uri="{FF2B5EF4-FFF2-40B4-BE49-F238E27FC236}">
                <a16:creationId xmlns:a16="http://schemas.microsoft.com/office/drawing/2014/main" id="{92E42869-B333-4AE1-81C4-B1BFF2313E6D}"/>
              </a:ext>
            </a:extLst>
          </p:cNvPr>
          <p:cNvSpPr>
            <a:spLocks xmlns:a="http://schemas.openxmlformats.org/drawingml/2006/main" noGrp="1"/>
          </p:cNvSpPr>
          <p:nvPr/>
        </p:nvSpPr>
        <p:spPr>
          <a:xfrm xmlns:a="http://schemas.openxmlformats.org/drawingml/2006/main">
            <a:off x="609600" y="1571625"/>
            <a:ext cx="46672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Вход: 37,6 °C, насморк, кашель, слабость, два дня.</a:t>
            </a:r>
          </a:p>
        </p:txBody>
      </p:sp>
      <p:sp>
        <p:nvSpPr>
          <p:cNvPr id="3" name="">
            <a:extLst xmlns:a="http://schemas.openxmlformats.org/drawingml/2006/main">
              <a:ext uri="{FF2B5EF4-FFF2-40B4-BE49-F238E27FC236}">
                <a16:creationId xmlns:a16="http://schemas.microsoft.com/office/drawing/2014/main" id="{A1A810DE-7636-40A1-85E0-07109FC08644}"/>
              </a:ext>
            </a:extLst>
          </p:cNvPr>
          <p:cNvSpPr>
            <a:spLocks xmlns:a="http://schemas.openxmlformats.org/drawingml/2006/main" noGrp="1"/>
          </p:cNvSpPr>
          <p:nvPr/>
        </p:nvSpPr>
        <p:spPr>
          <a:xfrm xmlns:a="http://schemas.openxmlformats.org/drawingml/2006/main">
            <a:off x="609600" y="2952750"/>
            <a:ext cx="46672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Ожидаемая цепочка: R1, R6.</a:t>
            </a:r>
          </a:p>
        </p:txBody>
      </p:sp>
      <p:sp>
        <p:nvSpPr>
          <p:cNvPr id="4" name="">
            <a:extLst xmlns:a="http://schemas.openxmlformats.org/drawingml/2006/main">
              <a:ext uri="{FF2B5EF4-FFF2-40B4-BE49-F238E27FC236}">
                <a16:creationId xmlns:a16="http://schemas.microsoft.com/office/drawing/2014/main" id="{D92929FB-4E6C-4C12-BDB9-1DC16E72EBA1}"/>
              </a:ext>
            </a:extLst>
          </p:cNvPr>
          <p:cNvSpPr>
            <a:spLocks xmlns:a="http://schemas.openxmlformats.org/drawingml/2006/main" noGrp="1"/>
          </p:cNvSpPr>
          <p:nvPr/>
        </p:nvSpPr>
        <p:spPr>
          <a:xfrm xmlns:a="http://schemas.openxmlformats.org/drawingml/2006/main">
            <a:off x="609600" y="4333875"/>
            <a:ext cx="46672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Получено: гипотеза ОРВИ, предупреждений нет.</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ef9e73b94234b99"/>
          <a:stretch xmlns:a="http://schemas.openxmlformats.org/drawingml/2006/main"/>
        </p:blipFill>
        <p:spPr>
          <a:xfrm xmlns:a="http://schemas.openxmlformats.org/drawingml/2006/main">
            <a:off x="5669184" y="1333500"/>
            <a:ext cx="5901883" cy="5238750"/>
          </a:xfrm>
          <a:prstGeom xmlns:a="http://schemas.openxmlformats.org/drawingml/2006/main" prst="rect">
            <a:avLst/>
          </a:prstGeom>
        </p:spPr>
      </p:pic>
    </p:spTree>
    <p:extLst>
      <p:ext uri="{BB962C8B-B14F-4D97-AF65-F5344CB8AC3E}">
        <p14:creationId xmlns:p14="http://schemas.microsoft.com/office/powerpoint/2010/main" val="17952026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CA712D-4CF7-4AE4-8F38-8A7AA557C981}"/>
              </a:ext>
            </a:extLst>
          </p:cNvPr>
          <p:cNvSpPr>
            <a:spLocks xmlns:a="http://schemas.openxmlformats.org/drawingml/2006/main" noGrp="1"/>
          </p:cNvSpPr>
          <p:nvPr/>
        </p:nvSpPr>
        <p:spPr>
          <a:xfrm xmlns:a="http://schemas.openxmlformats.org/drawingml/2006/main">
            <a:off x="609600" y="361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Сценарий с предупреждением</a:t>
            </a:r>
          </a:p>
        </p:txBody>
      </p:sp>
      <p:sp>
        <p:nvSpPr>
          <p:cNvPr id="2" name="">
            <a:extLst xmlns:a="http://schemas.openxmlformats.org/drawingml/2006/main">
              <a:ext uri="{FF2B5EF4-FFF2-40B4-BE49-F238E27FC236}">
                <a16:creationId xmlns:a16="http://schemas.microsoft.com/office/drawing/2014/main" id="{6AC99AD7-AAC3-4C38-B0B6-3E4E6A50BB09}"/>
              </a:ext>
            </a:extLst>
          </p:cNvPr>
          <p:cNvSpPr>
            <a:spLocks xmlns:a="http://schemas.openxmlformats.org/drawingml/2006/main" noGrp="1"/>
          </p:cNvSpPr>
          <p:nvPr/>
        </p:nvSpPr>
        <p:spPr>
          <a:xfrm xmlns:a="http://schemas.openxmlformats.org/drawingml/2006/main">
            <a:off x="609600" y="1571625"/>
            <a:ext cx="46672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Вход: 39,1 °C, озноб, слабость, головная боль, четыре дня.</a:t>
            </a:r>
          </a:p>
        </p:txBody>
      </p:sp>
      <p:sp>
        <p:nvSpPr>
          <p:cNvPr id="3" name="">
            <a:extLst xmlns:a="http://schemas.openxmlformats.org/drawingml/2006/main">
              <a:ext uri="{FF2B5EF4-FFF2-40B4-BE49-F238E27FC236}">
                <a16:creationId xmlns:a16="http://schemas.microsoft.com/office/drawing/2014/main" id="{CC4CA70D-A6CC-4338-A48A-3ECA5BE13E37}"/>
              </a:ext>
            </a:extLst>
          </p:cNvPr>
          <p:cNvSpPr>
            <a:spLocks xmlns:a="http://schemas.openxmlformats.org/drawingml/2006/main" noGrp="1"/>
          </p:cNvSpPr>
          <p:nvPr/>
        </p:nvSpPr>
        <p:spPr>
          <a:xfrm xmlns:a="http://schemas.openxmlformats.org/drawingml/2006/main">
            <a:off x="609600" y="2952750"/>
            <a:ext cx="46672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Ожидаемая цепочка: R2, R4, R6.</a:t>
            </a:r>
          </a:p>
        </p:txBody>
      </p:sp>
      <p:sp>
        <p:nvSpPr>
          <p:cNvPr id="4" name="">
            <a:extLst xmlns:a="http://schemas.openxmlformats.org/drawingml/2006/main">
              <a:ext uri="{FF2B5EF4-FFF2-40B4-BE49-F238E27FC236}">
                <a16:creationId xmlns:a16="http://schemas.microsoft.com/office/drawing/2014/main" id="{05E17A02-3B67-4158-9DB7-2142FEC1F9AB}"/>
              </a:ext>
            </a:extLst>
          </p:cNvPr>
          <p:cNvSpPr>
            <a:spLocks xmlns:a="http://schemas.openxmlformats.org/drawingml/2006/main" noGrp="1"/>
          </p:cNvSpPr>
          <p:nvPr/>
        </p:nvSpPr>
        <p:spPr>
          <a:xfrm xmlns:a="http://schemas.openxmlformats.org/drawingml/2006/main">
            <a:off x="609600" y="4333875"/>
            <a:ext cx="46672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Гипотеза и предупреждение вошли в итог.</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509c9167e354757"/>
          <a:stretch xmlns:a="http://schemas.openxmlformats.org/drawingml/2006/main"/>
        </p:blipFill>
        <p:spPr>
          <a:xfrm xmlns:a="http://schemas.openxmlformats.org/drawingml/2006/main">
            <a:off x="5669184" y="1333500"/>
            <a:ext cx="5901883" cy="5238750"/>
          </a:xfrm>
          <a:prstGeom xmlns:a="http://schemas.openxmlformats.org/drawingml/2006/main" prst="rect">
            <a:avLst/>
          </a:prstGeom>
        </p:spPr>
      </p:pic>
    </p:spTree>
    <p:extLst>
      <p:ext uri="{BB962C8B-B14F-4D97-AF65-F5344CB8AC3E}">
        <p14:creationId xmlns:p14="http://schemas.microsoft.com/office/powerpoint/2010/main" val="14445787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FF73020-E373-45A2-9336-D1335F3A1319}"/>
              </a:ext>
            </a:extLst>
          </p:cNvPr>
          <p:cNvSpPr>
            <a:spLocks xmlns:a="http://schemas.openxmlformats.org/drawingml/2006/main" noGrp="1"/>
          </p:cNvSpPr>
          <p:nvPr/>
        </p:nvSpPr>
        <p:spPr>
          <a:xfrm xmlns:a="http://schemas.openxmlformats.org/drawingml/2006/main">
            <a:off x="609600" y="361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Исправление и проверка</a:t>
            </a:r>
          </a:p>
        </p:txBody>
      </p:sp>
      <p:sp>
        <p:nvSpPr>
          <p:cNvPr id="2" name="">
            <a:extLst xmlns:a="http://schemas.openxmlformats.org/drawingml/2006/main">
              <a:ext uri="{FF2B5EF4-FFF2-40B4-BE49-F238E27FC236}">
                <a16:creationId xmlns:a16="http://schemas.microsoft.com/office/drawing/2014/main" id="{D4625FEB-6D22-4C0D-8FED-651CE38B0BEB}"/>
              </a:ext>
            </a:extLst>
          </p:cNvPr>
          <p:cNvSpPr>
            <a:spLocks xmlns:a="http://schemas.openxmlformats.org/drawingml/2006/main" noGrp="1"/>
          </p:cNvSpPr>
          <p:nvPr/>
        </p:nvSpPr>
        <p:spPr>
          <a:xfrm xmlns:a="http://schemas.openxmlformats.org/drawingml/2006/main">
            <a:off x="609600" y="13811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72B3A"/>
                </a:solidFill>
                <a:latin typeface="Arial"/>
                <a:ea typeface="Arial"/>
                <a:cs typeface="Arial"/>
              </a:defRPr>
            </a:pPr>
            <a:r>
              <a:rPr sz="2325" b="0">
                <a:solidFill>
                  <a:srgbClr val="172B3A"/>
                </a:solidFill>
                <a:latin typeface="Arial"/>
                <a:ea typeface="Arial"/>
                <a:cs typeface="Arial"/>
              </a:rPr>
              <a:t>Исправление: отдельные промежуточные факты и правило решения R6.</a:t>
            </a:r>
          </a:p>
        </p:txBody>
      </p:sp>
      <p:sp>
        <p:nvSpPr>
          <p:cNvPr id="3" name="">
            <a:extLst xmlns:a="http://schemas.openxmlformats.org/drawingml/2006/main">
              <a:ext uri="{FF2B5EF4-FFF2-40B4-BE49-F238E27FC236}">
                <a16:creationId xmlns:a16="http://schemas.microsoft.com/office/drawing/2014/main" id="{6CCD9C69-8964-4914-977E-998D4A8AF1B8}"/>
              </a:ext>
            </a:extLst>
          </p:cNvPr>
          <p:cNvSpPr>
            <a:spLocks xmlns:a="http://schemas.openxmlformats.org/drawingml/2006/main" noGrp="1"/>
          </p:cNvSpPr>
          <p:nvPr/>
        </p:nvSpPr>
        <p:spPr>
          <a:xfrm xmlns:a="http://schemas.openxmlformats.org/drawingml/2006/main">
            <a:off x="609600" y="22574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72B3A"/>
                </a:solidFill>
                <a:latin typeface="Arial"/>
                <a:ea typeface="Arial"/>
                <a:cs typeface="Arial"/>
              </a:defRPr>
            </a:pPr>
            <a:r>
              <a:rPr sz="2325" b="0">
                <a:solidFill>
                  <a:srgbClr val="172B3A"/>
                </a:solidFill>
                <a:latin typeface="Arial"/>
                <a:ea typeface="Arial"/>
                <a:cs typeface="Arial"/>
              </a:rPr>
              <a:t>Проверка: предупреждение сохраняется внутри Decision.</a:t>
            </a:r>
          </a:p>
        </p:txBody>
      </p:sp>
      <p:graphicFrame>
        <p:nvGraphicFramePr>
          <p:cNvPr id="9" name=""/>
          <p:cNvGraphicFramePr/>
          <p:nvPr/>
        </p:nvGraphicFramePr>
        <p:xfrm>
          <a:off xmlns:a="http://schemas.openxmlformats.org/drawingml/2006/main" x="609600" y="3333750"/>
          <a:ext xmlns:a="http://schemas.openxmlformats.org/drawingml/2006/main" cx="10972800" cy="2333625"/>
        </p:xfrm>
        <a:graphic xmlns:a="http://schemas.openxmlformats.org/drawingml/2006/main">
          <a:graphicData uri="http://schemas.openxmlformats.org/drawingml/2006/table">
            <a:tbl>
              <a:tblPr/>
              <a:tblGrid>
                <a:gridCol w="3619500"/>
                <a:gridCol w="7353300"/>
              </a:tblGrid>
              <a:tr h="466725">
                <a:tc>
                  <a:txBody>
                    <a:bodyPr>
                      <a:noAutofit/>
                    </a:bodyPr>
                    <a:lstStyle/>
                    <a:p>
                      <a:r>
                        <a:rPr sz="2025" b="1">
                          <a:solidFill>
                            <a:srgbClr val="172B3A"/>
                          </a:solidFill>
                          <a:latin typeface="Arial"/>
                          <a:ea typeface="Arial"/>
                          <a:cs typeface="Arial"/>
                        </a:rPr>
                        <a:t>Сценарий</a:t>
                      </a:r>
                    </a:p>
                  </a:txBody>
                  <a:tcPr marL="91440" marR="91440" marT="45720" marB="45720">
                    <a:solidFill>
                      <a:srgbClr val="E7EEF3"/>
                    </a:solidFill>
                  </a:tcPr>
                </a:tc>
                <a:tc>
                  <a:txBody>
                    <a:bodyPr>
                      <a:noAutofit/>
                    </a:bodyPr>
                    <a:lstStyle/>
                    <a:p>
                      <a:r>
                        <a:rPr sz="2025" b="1">
                          <a:solidFill>
                            <a:srgbClr val="172B3A"/>
                          </a:solidFill>
                          <a:latin typeface="Arial"/>
                          <a:ea typeface="Arial"/>
                          <a:cs typeface="Arial"/>
                        </a:rPr>
                        <a:t>Ожидаемые и полученные правила</a:t>
                      </a:r>
                    </a:p>
                  </a:txBody>
                  <a:tcPr marL="91440" marR="91440" marT="45720" marB="45720">
                    <a:solidFill>
                      <a:srgbClr val="E7EEF3"/>
                    </a:solidFill>
                  </a:tcPr>
                </a:tc>
              </a:tr>
              <a:tr h="466725">
                <a:tc>
                  <a:txBody>
                    <a:bodyPr>
                      <a:noAutofit/>
                    </a:bodyPr>
                    <a:lstStyle/>
                    <a:p>
                      <a:r>
                        <a:rPr sz="2025" b="0">
                          <a:solidFill>
                            <a:srgbClr val="172B3A"/>
                          </a:solidFill>
                          <a:latin typeface="Arial"/>
                          <a:ea typeface="Arial"/>
                          <a:cs typeface="Arial"/>
                        </a:rPr>
                        <a:t>orvi</a:t>
                      </a:r>
                    </a:p>
                  </a:txBody>
                  <a:tcPr marL="91440" marR="91440" marT="45720" marB="45720">
                    <a:solidFill>
                      <a:srgbClr val="FFFFFF"/>
                    </a:solidFill>
                  </a:tcPr>
                </a:tc>
                <a:tc>
                  <a:txBody>
                    <a:bodyPr>
                      <a:noAutofit/>
                    </a:bodyPr>
                    <a:lstStyle/>
                    <a:p>
                      <a:r>
                        <a:rPr sz="2025" b="0">
                          <a:solidFill>
                            <a:srgbClr val="172B3A"/>
                          </a:solidFill>
                          <a:latin typeface="Arial"/>
                          <a:ea typeface="Arial"/>
                          <a:cs typeface="Arial"/>
                        </a:rPr>
                        <a:t>R1, R6</a:t>
                      </a:r>
                    </a:p>
                  </a:txBody>
                  <a:tcPr marL="91440" marR="91440" marT="45720" marB="45720">
                    <a:solidFill>
                      <a:srgbClr val="FFFFFF"/>
                    </a:solidFill>
                  </a:tcPr>
                </a:tc>
              </a:tr>
              <a:tr h="466725">
                <a:tc>
                  <a:txBody>
                    <a:bodyPr>
                      <a:noAutofit/>
                    </a:bodyPr>
                    <a:lstStyle/>
                    <a:p>
                      <a:r>
                        <a:rPr sz="2025" b="0">
                          <a:solidFill>
                            <a:srgbClr val="172B3A"/>
                          </a:solidFill>
                          <a:latin typeface="Arial"/>
                          <a:ea typeface="Arial"/>
                          <a:cs typeface="Arial"/>
                        </a:rPr>
                        <a:t>flu_warning</a:t>
                      </a:r>
                    </a:p>
                  </a:txBody>
                  <a:tcPr marL="91440" marR="91440" marT="45720" marB="45720">
                    <a:solidFill>
                      <a:srgbClr val="FFFFFF"/>
                    </a:solidFill>
                  </a:tcPr>
                </a:tc>
                <a:tc>
                  <a:txBody>
                    <a:bodyPr>
                      <a:noAutofit/>
                    </a:bodyPr>
                    <a:lstStyle/>
                    <a:p>
                      <a:r>
                        <a:rPr sz="2025" b="0">
                          <a:solidFill>
                            <a:srgbClr val="172B3A"/>
                          </a:solidFill>
                          <a:latin typeface="Arial"/>
                          <a:ea typeface="Arial"/>
                          <a:cs typeface="Arial"/>
                        </a:rPr>
                        <a:t>R2, R4, R6</a:t>
                      </a:r>
                    </a:p>
                  </a:txBody>
                  <a:tcPr marL="91440" marR="91440" marT="45720" marB="45720">
                    <a:solidFill>
                      <a:srgbClr val="FFFFFF"/>
                    </a:solidFill>
                  </a:tcPr>
                </a:tc>
              </a:tr>
              <a:tr h="466725">
                <a:tc>
                  <a:txBody>
                    <a:bodyPr>
                      <a:noAutofit/>
                    </a:bodyPr>
                    <a:lstStyle/>
                    <a:p>
                      <a:r>
                        <a:rPr sz="2025" b="0">
                          <a:solidFill>
                            <a:srgbClr val="172B3A"/>
                          </a:solidFill>
                          <a:latin typeface="Arial"/>
                          <a:ea typeface="Arial"/>
                          <a:cs typeface="Arial"/>
                        </a:rPr>
                        <a:t>urgent</a:t>
                      </a:r>
                    </a:p>
                  </a:txBody>
                  <a:tcPr marL="91440" marR="91440" marT="45720" marB="45720">
                    <a:solidFill>
                      <a:srgbClr val="FFFFFF"/>
                    </a:solidFill>
                  </a:tcPr>
                </a:tc>
                <a:tc>
                  <a:txBody>
                    <a:bodyPr>
                      <a:noAutofit/>
                    </a:bodyPr>
                    <a:lstStyle/>
                    <a:p>
                      <a:r>
                        <a:rPr sz="2025" b="0">
                          <a:solidFill>
                            <a:srgbClr val="172B3A"/>
                          </a:solidFill>
                          <a:latin typeface="Arial"/>
                          <a:ea typeface="Arial"/>
                          <a:cs typeface="Arial"/>
                        </a:rPr>
                        <a:t>R2, R5, R6</a:t>
                      </a:r>
                    </a:p>
                  </a:txBody>
                  <a:tcPr marL="91440" marR="91440" marT="45720" marB="45720">
                    <a:solidFill>
                      <a:srgbClr val="FFFFFF"/>
                    </a:solidFill>
                  </a:tcPr>
                </a:tc>
              </a:tr>
              <a:tr h="466725">
                <a:tc>
                  <a:txBody>
                    <a:bodyPr>
                      <a:noAutofit/>
                    </a:bodyPr>
                    <a:lstStyle/>
                    <a:p>
                      <a:r>
                        <a:rPr sz="2025" b="0">
                          <a:solidFill>
                            <a:srgbClr val="172B3A"/>
                          </a:solidFill>
                          <a:latin typeface="Arial"/>
                          <a:ea typeface="Arial"/>
                          <a:cs typeface="Arial"/>
                        </a:rPr>
                        <a:t>no_match</a:t>
                      </a:r>
                    </a:p>
                  </a:txBody>
                  <a:tcPr marL="91440" marR="91440" marT="45720" marB="45720">
                    <a:solidFill>
                      <a:srgbClr val="FFFFFF"/>
                    </a:solidFill>
                  </a:tcPr>
                </a:tc>
                <a:tc>
                  <a:txBody>
                    <a:bodyPr>
                      <a:noAutofit/>
                    </a:bodyPr>
                    <a:lstStyle/>
                    <a:p>
                      <a:r>
                        <a:rPr sz="2025" b="0">
                          <a:solidFill>
                            <a:srgbClr val="172B3A"/>
                          </a:solidFill>
                          <a:latin typeface="Arial"/>
                          <a:ea typeface="Arial"/>
                          <a:cs typeface="Arial"/>
                        </a:rPr>
                        <a:t>R7</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4F77EEF-8B68-4ABD-BF6F-88ED45BFA859}"/>
              </a:ext>
            </a:extLst>
          </p:cNvPr>
          <p:cNvSpPr>
            <a:spLocks xmlns:a="http://schemas.openxmlformats.org/drawingml/2006/main" noGrp="1"/>
          </p:cNvSpPr>
          <p:nvPr/>
        </p:nvSpPr>
        <p:spPr>
          <a:xfrm xmlns:a="http://schemas.openxmlformats.org/drawingml/2006/main">
            <a:off x="609600" y="59531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72B3A"/>
                </a:solidFill>
                <a:latin typeface="Arial"/>
                <a:ea typeface="Arial"/>
                <a:cs typeface="Arial"/>
              </a:defRPr>
            </a:pPr>
            <a:r>
              <a:rPr sz="2325" b="1">
                <a:solidFill>
                  <a:srgbClr val="172B3A"/>
                </a:solidFill>
                <a:latin typeface="Arial"/>
                <a:ea typeface="Arial"/>
                <a:cs typeface="Arial"/>
              </a:rPr>
              <a:t>10 автоматических проверок проходят</a:t>
            </a:r>
          </a:p>
        </p:txBody>
      </p:sp>
    </p:spTree>
    <p:extLst>
      <p:ext uri="{BB962C8B-B14F-4D97-AF65-F5344CB8AC3E}">
        <p14:creationId xmlns:p14="http://schemas.microsoft.com/office/powerpoint/2010/main" val="144363899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F94A65F-3BB4-47E2-9575-442D12DF622C}"/>
              </a:ext>
            </a:extLst>
          </p:cNvPr>
          <p:cNvSpPr>
            <a:spLocks xmlns:a="http://schemas.openxmlformats.org/drawingml/2006/main" noGrp="1"/>
          </p:cNvSpPr>
          <p:nvPr/>
        </p:nvSpPr>
        <p:spPr>
          <a:xfrm xmlns:a="http://schemas.openxmlformats.org/drawingml/2006/main">
            <a:off x="609600" y="361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Выводы и ограничения</a:t>
            </a:r>
          </a:p>
        </p:txBody>
      </p:sp>
      <p:sp>
        <p:nvSpPr>
          <p:cNvPr id="2" name="">
            <a:extLst xmlns:a="http://schemas.openxmlformats.org/drawingml/2006/main">
              <a:ext uri="{FF2B5EF4-FFF2-40B4-BE49-F238E27FC236}">
                <a16:creationId xmlns:a16="http://schemas.microsoft.com/office/drawing/2014/main" id="{D9A426F8-4E1F-41F2-B795-3D3DD49519CB}"/>
              </a:ext>
            </a:extLst>
          </p:cNvPr>
          <p:cNvSpPr>
            <a:spLocks xmlns:a="http://schemas.openxmlformats.org/drawingml/2006/main" noGrp="1"/>
          </p:cNvSpPr>
          <p:nvPr/>
        </p:nvSpPr>
        <p:spPr>
          <a:xfrm xmlns:a="http://schemas.openxmlformats.org/drawingml/2006/main">
            <a:off x="609600" y="147637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Получено: прототип, семь правил, объяснения и проверенные сценарии.</a:t>
            </a:r>
          </a:p>
        </p:txBody>
      </p:sp>
      <p:sp>
        <p:nvSpPr>
          <p:cNvPr id="3" name="">
            <a:extLst xmlns:a="http://schemas.openxmlformats.org/drawingml/2006/main">
              <a:ext uri="{FF2B5EF4-FFF2-40B4-BE49-F238E27FC236}">
                <a16:creationId xmlns:a16="http://schemas.microsoft.com/office/drawing/2014/main" id="{B28C593C-90A5-454C-9149-2C337E1C5A19}"/>
              </a:ext>
            </a:extLst>
          </p:cNvPr>
          <p:cNvSpPr>
            <a:spLocks xmlns:a="http://schemas.openxmlformats.org/drawingml/2006/main" noGrp="1"/>
          </p:cNvSpPr>
          <p:nvPr/>
        </p:nvSpPr>
        <p:spPr>
          <a:xfrm xmlns:a="http://schemas.openxmlformats.org/drawingml/2006/main">
            <a:off x="609600" y="25336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Ограничения: маленькая учебная база, упрощённые условия.</a:t>
            </a:r>
          </a:p>
        </p:txBody>
      </p:sp>
      <p:sp>
        <p:nvSpPr>
          <p:cNvPr id="4" name="">
            <a:extLst xmlns:a="http://schemas.openxmlformats.org/drawingml/2006/main">
              <a:ext uri="{FF2B5EF4-FFF2-40B4-BE49-F238E27FC236}">
                <a16:creationId xmlns:a16="http://schemas.microsoft.com/office/drawing/2014/main" id="{4EE7F5F5-B64E-48C8-B5A6-EC0E1C7F0492}"/>
              </a:ext>
            </a:extLst>
          </p:cNvPr>
          <p:cNvSpPr>
            <a:spLocks xmlns:a="http://schemas.openxmlformats.org/drawingml/2006/main" noGrp="1"/>
          </p:cNvSpPr>
          <p:nvPr/>
        </p:nvSpPr>
        <p:spPr>
          <a:xfrm xmlns:a="http://schemas.openxmlformats.org/drawingml/2006/main">
            <a:off x="609600" y="35909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Медицинская точность и проценты достоверности не заявляются.</a:t>
            </a:r>
          </a:p>
        </p:txBody>
      </p:sp>
      <p:sp>
        <p:nvSpPr>
          <p:cNvPr id="5" name="">
            <a:extLst xmlns:a="http://schemas.openxmlformats.org/drawingml/2006/main">
              <a:ext uri="{FF2B5EF4-FFF2-40B4-BE49-F238E27FC236}">
                <a16:creationId xmlns:a16="http://schemas.microsoft.com/office/drawing/2014/main" id="{A48A88B8-13B6-472E-9381-FC849A3B092F}"/>
              </a:ext>
            </a:extLst>
          </p:cNvPr>
          <p:cNvSpPr>
            <a:spLocks xmlns:a="http://schemas.openxmlformats.org/drawingml/2006/main" noGrp="1"/>
          </p:cNvSpPr>
          <p:nvPr/>
        </p:nvSpPr>
        <p:spPr>
          <a:xfrm xmlns:a="http://schemas.openxmlformats.org/drawingml/2006/main">
            <a:off x="609600" y="464820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Развитие: больше тестов и проверка противоречивого ввода.</a:t>
            </a:r>
          </a:p>
        </p:txBody>
      </p:sp>
    </p:spTree>
    <p:extLst>
      <p:ext uri="{BB962C8B-B14F-4D97-AF65-F5344CB8AC3E}">
        <p14:creationId xmlns:p14="http://schemas.microsoft.com/office/powerpoint/2010/main" val="18925659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2026-10-01T18:02:19.6760000Z</dcterms:created>
  <dcterms:modified xsi:type="dcterms:W3CDTF">2026-10-01T18:02:19.6760000Z</dcterms:modified>
</coreProperties>
</file>